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89" r:id="rId2"/>
    <p:sldMasterId id="2147483676" r:id="rId3"/>
  </p:sldMasterIdLst>
  <p:notesMasterIdLst>
    <p:notesMasterId r:id="rId18"/>
  </p:notesMasterIdLst>
  <p:sldIdLst>
    <p:sldId id="321" r:id="rId4"/>
    <p:sldId id="331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2" r:id="rId13"/>
    <p:sldId id="333" r:id="rId14"/>
    <p:sldId id="334" r:id="rId15"/>
    <p:sldId id="335" r:id="rId16"/>
    <p:sldId id="336" r:id="rId17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93">
          <p15:clr>
            <a:srgbClr val="A4A3A4"/>
          </p15:clr>
        </p15:guide>
        <p15:guide id="2" pos="8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FFF00"/>
    <a:srgbClr val="6699FF"/>
    <a:srgbClr val="3399FF"/>
    <a:srgbClr val="66FF66"/>
    <a:srgbClr val="99FFCC"/>
    <a:srgbClr val="CCECFF"/>
    <a:srgbClr val="9999FF"/>
    <a:srgbClr val="FF990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31" autoAdjust="0"/>
    <p:restoredTop sz="89857" autoAdjust="0"/>
  </p:normalViewPr>
  <p:slideViewPr>
    <p:cSldViewPr snapToGrid="0">
      <p:cViewPr varScale="1">
        <p:scale>
          <a:sx n="99" d="100"/>
          <a:sy n="99" d="100"/>
        </p:scale>
        <p:origin x="2574" y="78"/>
      </p:cViewPr>
      <p:guideLst>
        <p:guide orient="horz" pos="3493"/>
        <p:guide pos="8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4" d="100"/>
          <a:sy n="74" d="100"/>
        </p:scale>
        <p:origin x="-2124" y="-96"/>
      </p:cViewPr>
      <p:guideLst>
        <p:guide orient="horz" pos="3126"/>
        <p:guide pos="2142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ndard"/>
        <c:varyColors val="0"/>
        <c:ser>
          <c:idx val="2"/>
          <c:order val="2"/>
          <c:tx>
            <c:strRef>
              <c:f>Sheet1!$E$1</c:f>
              <c:strCache>
                <c:ptCount val="1"/>
                <c:pt idx="0">
                  <c:v>Above Target</c:v>
                </c:pt>
              </c:strCache>
            </c:strRef>
          </c:tx>
          <c:spPr>
            <a:solidFill>
              <a:srgbClr val="33CC33"/>
            </a:solidFill>
          </c:spPr>
          <c:cat>
            <c:strRef>
              <c:f>Sheet1!$A$2:$A$14</c:f>
              <c:strCache>
                <c:ptCount val="13"/>
                <c:pt idx="1">
                  <c:v>January</c:v>
                </c:pt>
                <c:pt idx="2">
                  <c:v>February</c:v>
                </c:pt>
                <c:pt idx="3">
                  <c:v>March</c:v>
                </c:pt>
                <c:pt idx="4">
                  <c:v>April</c:v>
                </c:pt>
                <c:pt idx="5">
                  <c:v>May</c:v>
                </c:pt>
                <c:pt idx="6">
                  <c:v>June</c:v>
                </c:pt>
                <c:pt idx="7">
                  <c:v>July</c:v>
                </c:pt>
                <c:pt idx="8">
                  <c:v>August</c:v>
                </c:pt>
                <c:pt idx="9">
                  <c:v>September</c:v>
                </c:pt>
                <c:pt idx="10">
                  <c:v>October</c:v>
                </c:pt>
                <c:pt idx="11">
                  <c:v>November</c:v>
                </c:pt>
                <c:pt idx="12">
                  <c:v>December</c:v>
                </c:pt>
              </c:strCache>
            </c:strRef>
          </c:cat>
          <c:val>
            <c:numRef>
              <c:f>Sheet1!$E$2:$E$14</c:f>
              <c:numCache>
                <c:formatCode>0%</c:formatCode>
                <c:ptCount val="1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9A-4EA7-8681-514A2BA5BA4F}"/>
            </c:ext>
          </c:extLst>
        </c:ser>
        <c:ser>
          <c:idx val="3"/>
          <c:order val="3"/>
          <c:tx>
            <c:strRef>
              <c:f>Sheet1!$C$1</c:f>
              <c:strCache>
                <c:ptCount val="1"/>
                <c:pt idx="0">
                  <c:v>100+D9:D11%</c:v>
                </c:pt>
              </c:strCache>
            </c:strRef>
          </c:tx>
          <c:spPr>
            <a:solidFill>
              <a:srgbClr val="FFFF00"/>
            </a:solidFill>
          </c:spPr>
          <c:cat>
            <c:strRef>
              <c:f>Sheet1!$A$2:$A$14</c:f>
              <c:strCache>
                <c:ptCount val="13"/>
                <c:pt idx="1">
                  <c:v>January</c:v>
                </c:pt>
                <c:pt idx="2">
                  <c:v>February</c:v>
                </c:pt>
                <c:pt idx="3">
                  <c:v>March</c:v>
                </c:pt>
                <c:pt idx="4">
                  <c:v>April</c:v>
                </c:pt>
                <c:pt idx="5">
                  <c:v>May</c:v>
                </c:pt>
                <c:pt idx="6">
                  <c:v>June</c:v>
                </c:pt>
                <c:pt idx="7">
                  <c:v>July</c:v>
                </c:pt>
                <c:pt idx="8">
                  <c:v>August</c:v>
                </c:pt>
                <c:pt idx="9">
                  <c:v>September</c:v>
                </c:pt>
                <c:pt idx="10">
                  <c:v>October</c:v>
                </c:pt>
                <c:pt idx="11">
                  <c:v>November</c:v>
                </c:pt>
                <c:pt idx="12">
                  <c:v>December</c:v>
                </c:pt>
              </c:strCache>
            </c:strRef>
          </c:cat>
          <c:val>
            <c:numRef>
              <c:f>Sheet1!$C$2:$C$14</c:f>
              <c:numCache>
                <c:formatCode>0%</c:formatCode>
                <c:ptCount val="13"/>
                <c:pt idx="0">
                  <c:v>0.98</c:v>
                </c:pt>
                <c:pt idx="1">
                  <c:v>0.98</c:v>
                </c:pt>
                <c:pt idx="2">
                  <c:v>0.98</c:v>
                </c:pt>
                <c:pt idx="3">
                  <c:v>0.98</c:v>
                </c:pt>
                <c:pt idx="4">
                  <c:v>0.98</c:v>
                </c:pt>
                <c:pt idx="5">
                  <c:v>0.98</c:v>
                </c:pt>
                <c:pt idx="6">
                  <c:v>0.98</c:v>
                </c:pt>
                <c:pt idx="7">
                  <c:v>0.98</c:v>
                </c:pt>
                <c:pt idx="8">
                  <c:v>0.98</c:v>
                </c:pt>
                <c:pt idx="9">
                  <c:v>0.98</c:v>
                </c:pt>
                <c:pt idx="10">
                  <c:v>0.98</c:v>
                </c:pt>
                <c:pt idx="11">
                  <c:v>0.98</c:v>
                </c:pt>
                <c:pt idx="12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9A-4EA7-8681-514A2BA5BA4F}"/>
            </c:ext>
          </c:extLst>
        </c:ser>
        <c:ser>
          <c:idx val="0"/>
          <c:order val="0"/>
          <c:tx>
            <c:strRef>
              <c:f>Sheet1!$B$1</c:f>
              <c:strCache>
                <c:ptCount val="1"/>
                <c:pt idx="0">
                  <c:v>Below Target</c:v>
                </c:pt>
              </c:strCache>
            </c:strRef>
          </c:tx>
          <c:spPr>
            <a:solidFill>
              <a:srgbClr val="FF0000"/>
            </a:solidFill>
          </c:spPr>
          <c:cat>
            <c:strRef>
              <c:f>Sheet1!$A$2:$A$14</c:f>
              <c:strCache>
                <c:ptCount val="13"/>
                <c:pt idx="1">
                  <c:v>January</c:v>
                </c:pt>
                <c:pt idx="2">
                  <c:v>February</c:v>
                </c:pt>
                <c:pt idx="3">
                  <c:v>March</c:v>
                </c:pt>
                <c:pt idx="4">
                  <c:v>April</c:v>
                </c:pt>
                <c:pt idx="5">
                  <c:v>May</c:v>
                </c:pt>
                <c:pt idx="6">
                  <c:v>June</c:v>
                </c:pt>
                <c:pt idx="7">
                  <c:v>July</c:v>
                </c:pt>
                <c:pt idx="8">
                  <c:v>August</c:v>
                </c:pt>
                <c:pt idx="9">
                  <c:v>September</c:v>
                </c:pt>
                <c:pt idx="10">
                  <c:v>October</c:v>
                </c:pt>
                <c:pt idx="11">
                  <c:v>November</c:v>
                </c:pt>
                <c:pt idx="12">
                  <c:v>December</c:v>
                </c:pt>
              </c:strCache>
            </c:strRef>
          </c:cat>
          <c:val>
            <c:numRef>
              <c:f>Sheet1!$B$2:$B$14</c:f>
              <c:numCache>
                <c:formatCode>0%</c:formatCode>
                <c:ptCount val="13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6">
                  <c:v>0.97</c:v>
                </c:pt>
                <c:pt idx="7">
                  <c:v>0.97</c:v>
                </c:pt>
                <c:pt idx="8">
                  <c:v>0.97</c:v>
                </c:pt>
                <c:pt idx="9">
                  <c:v>0.97</c:v>
                </c:pt>
                <c:pt idx="10">
                  <c:v>0.97</c:v>
                </c:pt>
                <c:pt idx="11">
                  <c:v>0.97</c:v>
                </c:pt>
                <c:pt idx="12">
                  <c:v>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9A-4EA7-8681-514A2BA5BA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1140560"/>
        <c:axId val="291854184"/>
      </c:areaChart>
      <c:barChart>
        <c:barDir val="col"/>
        <c:grouping val="clustered"/>
        <c:varyColors val="0"/>
        <c:ser>
          <c:idx val="1"/>
          <c:order val="1"/>
          <c:tx>
            <c:strRef>
              <c:f>Sheet1!$D$1</c:f>
              <c:strCache>
                <c:ptCount val="1"/>
                <c:pt idx="0">
                  <c:v>Actual %</c:v>
                </c:pt>
              </c:strCache>
            </c:strRef>
          </c:tx>
          <c:spPr>
            <a:gradFill>
              <a:gsLst>
                <a:gs pos="100000">
                  <a:srgbClr val="0070C0"/>
                </a:gs>
                <a:gs pos="50000">
                  <a:srgbClr val="333333">
                    <a:tint val="44500"/>
                    <a:satMod val="160000"/>
                  </a:srgbClr>
                </a:gs>
                <a:gs pos="100000">
                  <a:srgbClr val="333333">
                    <a:tint val="23500"/>
                    <a:satMod val="160000"/>
                  </a:srgbClr>
                </a:gs>
              </a:gsLst>
              <a:lin ang="5400000" scaled="0"/>
            </a:gradFill>
            <a:ln>
              <a:solidFill>
                <a:schemeClr val="accent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Sheet1!$A$2:$A$14</c:f>
              <c:strCache>
                <c:ptCount val="13"/>
                <c:pt idx="1">
                  <c:v>January</c:v>
                </c:pt>
                <c:pt idx="2">
                  <c:v>February</c:v>
                </c:pt>
                <c:pt idx="3">
                  <c:v>March</c:v>
                </c:pt>
                <c:pt idx="4">
                  <c:v>April</c:v>
                </c:pt>
                <c:pt idx="5">
                  <c:v>May</c:v>
                </c:pt>
                <c:pt idx="6">
                  <c:v>June</c:v>
                </c:pt>
                <c:pt idx="7">
                  <c:v>July</c:v>
                </c:pt>
                <c:pt idx="8">
                  <c:v>August</c:v>
                </c:pt>
                <c:pt idx="9">
                  <c:v>September</c:v>
                </c:pt>
                <c:pt idx="10">
                  <c:v>October</c:v>
                </c:pt>
                <c:pt idx="11">
                  <c:v>November</c:v>
                </c:pt>
                <c:pt idx="12">
                  <c:v>December</c:v>
                </c:pt>
              </c:strCache>
            </c:strRef>
          </c:cat>
          <c:val>
            <c:numRef>
              <c:f>Sheet1!$D$2:$D$14</c:f>
              <c:numCache>
                <c:formatCode>0%</c:formatCode>
                <c:ptCount val="13"/>
                <c:pt idx="1">
                  <c:v>1</c:v>
                </c:pt>
                <c:pt idx="2">
                  <c:v>0.99339999999999995</c:v>
                </c:pt>
                <c:pt idx="3">
                  <c:v>0.99399999999999999</c:v>
                </c:pt>
                <c:pt idx="4">
                  <c:v>1</c:v>
                </c:pt>
                <c:pt idx="5">
                  <c:v>0.98839999999999995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09A-4EA7-8681-514A2BA5BA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1140560"/>
        <c:axId val="291854184"/>
      </c:barChart>
      <c:catAx>
        <c:axId val="2911405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 sz="1000">
                <a:latin typeface="BMW Helvetica Light" pitchFamily="2" charset="0"/>
              </a:defRPr>
            </a:pPr>
            <a:endParaRPr lang="en-US"/>
          </a:p>
        </c:txPr>
        <c:crossAx val="291854184"/>
        <c:crosses val="autoZero"/>
        <c:auto val="1"/>
        <c:lblAlgn val="ctr"/>
        <c:lblOffset val="100"/>
        <c:noMultiLvlLbl val="0"/>
      </c:catAx>
      <c:valAx>
        <c:axId val="291854184"/>
        <c:scaling>
          <c:orientation val="minMax"/>
          <c:max val="1"/>
          <c:min val="0.8"/>
        </c:scaling>
        <c:delete val="0"/>
        <c:axPos val="l"/>
        <c:majorGridlines>
          <c:spPr>
            <a:ln>
              <a:solidFill>
                <a:schemeClr val="bg1">
                  <a:lumMod val="85000"/>
                </a:schemeClr>
              </a:solidFill>
            </a:ln>
          </c:spPr>
        </c:majorGridlines>
        <c:minorGridlines/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1000" baseline="0">
                <a:latin typeface="BMW Helvetica Light" pitchFamily="2" charset="0"/>
              </a:defRPr>
            </a:pPr>
            <a:endParaRPr lang="en-US"/>
          </a:p>
        </c:txPr>
        <c:crossAx val="291140560"/>
        <c:crosses val="autoZero"/>
        <c:crossBetween val="between"/>
        <c:majorUnit val="1.0000000000000083E-2"/>
      </c:valAx>
      <c:spPr>
        <a:ln>
          <a:noFill/>
        </a:ln>
      </c:spPr>
    </c:plotArea>
    <c:legend>
      <c:legendPos val="r"/>
      <c:overlay val="0"/>
      <c:txPr>
        <a:bodyPr/>
        <a:lstStyle/>
        <a:p>
          <a:pPr>
            <a:defRPr sz="1200">
              <a:latin typeface="BMW Helvetica Light" pitchFamily="2" charset="0"/>
            </a:defRPr>
          </a:pPr>
          <a:endParaRPr lang="en-US"/>
        </a:p>
      </c:txPr>
    </c:legend>
    <c:plotVisOnly val="1"/>
    <c:dispBlanksAs val="zero"/>
    <c:showDLblsOverMax val="0"/>
  </c:chart>
  <c:spPr>
    <a:gradFill>
      <a:gsLst>
        <a:gs pos="100000">
          <a:schemeClr val="bg1">
            <a:lumMod val="95000"/>
          </a:schemeClr>
        </a:gs>
        <a:gs pos="50000">
          <a:srgbClr val="333333">
            <a:tint val="44500"/>
            <a:satMod val="160000"/>
          </a:srgbClr>
        </a:gs>
        <a:gs pos="100000">
          <a:srgbClr val="333333">
            <a:tint val="23500"/>
            <a:satMod val="160000"/>
          </a:srgbClr>
        </a:gs>
      </a:gsLst>
      <a:lin ang="5400000" scaled="0"/>
    </a:gradFill>
    <a:ln>
      <a:solidFill>
        <a:schemeClr val="tx1">
          <a:lumMod val="95000"/>
          <a:lumOff val="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ndard"/>
        <c:varyColors val="0"/>
        <c:ser>
          <c:idx val="2"/>
          <c:order val="1"/>
          <c:tx>
            <c:strRef>
              <c:f>Sheet1!$E$1</c:f>
              <c:strCache>
                <c:ptCount val="1"/>
                <c:pt idx="0">
                  <c:v>Above Target</c:v>
                </c:pt>
              </c:strCache>
            </c:strRef>
          </c:tx>
          <c:spPr>
            <a:solidFill>
              <a:srgbClr val="33CC33"/>
            </a:solidFill>
          </c:spPr>
          <c:cat>
            <c:strRef>
              <c:f>Sheet1!$A$2:$A$14</c:f>
              <c:strCache>
                <c:ptCount val="13"/>
                <c:pt idx="1">
                  <c:v>January</c:v>
                </c:pt>
                <c:pt idx="2">
                  <c:v>February</c:v>
                </c:pt>
                <c:pt idx="3">
                  <c:v>March</c:v>
                </c:pt>
                <c:pt idx="4">
                  <c:v>April</c:v>
                </c:pt>
                <c:pt idx="5">
                  <c:v>May</c:v>
                </c:pt>
                <c:pt idx="6">
                  <c:v>June</c:v>
                </c:pt>
                <c:pt idx="7">
                  <c:v>July</c:v>
                </c:pt>
                <c:pt idx="8">
                  <c:v>August</c:v>
                </c:pt>
                <c:pt idx="9">
                  <c:v>September</c:v>
                </c:pt>
                <c:pt idx="10">
                  <c:v>October</c:v>
                </c:pt>
                <c:pt idx="11">
                  <c:v>November</c:v>
                </c:pt>
                <c:pt idx="12">
                  <c:v>December</c:v>
                </c:pt>
              </c:strCache>
            </c:strRef>
          </c:cat>
          <c:val>
            <c:numRef>
              <c:f>Sheet1!$E$2:$E$14</c:f>
              <c:numCache>
                <c:formatCode>0%</c:formatCode>
                <c:ptCount val="1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9A-4D35-B3BE-0CB1212BE348}"/>
            </c:ext>
          </c:extLst>
        </c:ser>
        <c:ser>
          <c:idx val="3"/>
          <c:order val="2"/>
          <c:tx>
            <c:strRef>
              <c:f>Sheet1!$C$1</c:f>
              <c:strCache>
                <c:ptCount val="1"/>
                <c:pt idx="0">
                  <c:v>Amber</c:v>
                </c:pt>
              </c:strCache>
            </c:strRef>
          </c:tx>
          <c:spPr>
            <a:solidFill>
              <a:srgbClr val="FFFF00"/>
            </a:solidFill>
          </c:spPr>
          <c:cat>
            <c:strRef>
              <c:f>Sheet1!$A$2:$A$14</c:f>
              <c:strCache>
                <c:ptCount val="13"/>
                <c:pt idx="1">
                  <c:v>January</c:v>
                </c:pt>
                <c:pt idx="2">
                  <c:v>February</c:v>
                </c:pt>
                <c:pt idx="3">
                  <c:v>March</c:v>
                </c:pt>
                <c:pt idx="4">
                  <c:v>April</c:v>
                </c:pt>
                <c:pt idx="5">
                  <c:v>May</c:v>
                </c:pt>
                <c:pt idx="6">
                  <c:v>June</c:v>
                </c:pt>
                <c:pt idx="7">
                  <c:v>July</c:v>
                </c:pt>
                <c:pt idx="8">
                  <c:v>August</c:v>
                </c:pt>
                <c:pt idx="9">
                  <c:v>September</c:v>
                </c:pt>
                <c:pt idx="10">
                  <c:v>October</c:v>
                </c:pt>
                <c:pt idx="11">
                  <c:v>November</c:v>
                </c:pt>
                <c:pt idx="12">
                  <c:v>December</c:v>
                </c:pt>
              </c:strCache>
            </c:strRef>
          </c:cat>
          <c:val>
            <c:numRef>
              <c:f>Sheet1!$C$2:$C$14</c:f>
              <c:numCache>
                <c:formatCode>0%</c:formatCode>
                <c:ptCount val="13"/>
                <c:pt idx="0">
                  <c:v>0.98</c:v>
                </c:pt>
                <c:pt idx="1">
                  <c:v>0.98</c:v>
                </c:pt>
                <c:pt idx="2">
                  <c:v>0.98</c:v>
                </c:pt>
                <c:pt idx="3">
                  <c:v>0.98</c:v>
                </c:pt>
                <c:pt idx="4">
                  <c:v>0.98</c:v>
                </c:pt>
                <c:pt idx="5">
                  <c:v>0.98</c:v>
                </c:pt>
                <c:pt idx="6">
                  <c:v>0.98</c:v>
                </c:pt>
                <c:pt idx="7">
                  <c:v>0.98</c:v>
                </c:pt>
                <c:pt idx="8">
                  <c:v>0.98</c:v>
                </c:pt>
                <c:pt idx="9">
                  <c:v>0.98</c:v>
                </c:pt>
                <c:pt idx="10">
                  <c:v>0.98</c:v>
                </c:pt>
                <c:pt idx="11">
                  <c:v>0.98</c:v>
                </c:pt>
                <c:pt idx="12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9A-4D35-B3BE-0CB1212BE348}"/>
            </c:ext>
          </c:extLst>
        </c:ser>
        <c:ser>
          <c:idx val="0"/>
          <c:order val="0"/>
          <c:tx>
            <c:strRef>
              <c:f>Sheet1!$B$1</c:f>
              <c:strCache>
                <c:ptCount val="1"/>
                <c:pt idx="0">
                  <c:v>Below Target</c:v>
                </c:pt>
              </c:strCache>
            </c:strRef>
          </c:tx>
          <c:spPr>
            <a:solidFill>
              <a:srgbClr val="FF0000"/>
            </a:solidFill>
          </c:spPr>
          <c:cat>
            <c:strRef>
              <c:f>Sheet1!$A$2:$A$14</c:f>
              <c:strCache>
                <c:ptCount val="13"/>
                <c:pt idx="1">
                  <c:v>January</c:v>
                </c:pt>
                <c:pt idx="2">
                  <c:v>February</c:v>
                </c:pt>
                <c:pt idx="3">
                  <c:v>March</c:v>
                </c:pt>
                <c:pt idx="4">
                  <c:v>April</c:v>
                </c:pt>
                <c:pt idx="5">
                  <c:v>May</c:v>
                </c:pt>
                <c:pt idx="6">
                  <c:v>June</c:v>
                </c:pt>
                <c:pt idx="7">
                  <c:v>July</c:v>
                </c:pt>
                <c:pt idx="8">
                  <c:v>August</c:v>
                </c:pt>
                <c:pt idx="9">
                  <c:v>September</c:v>
                </c:pt>
                <c:pt idx="10">
                  <c:v>October</c:v>
                </c:pt>
                <c:pt idx="11">
                  <c:v>November</c:v>
                </c:pt>
                <c:pt idx="12">
                  <c:v>December</c:v>
                </c:pt>
              </c:strCache>
            </c:strRef>
          </c:cat>
          <c:val>
            <c:numRef>
              <c:f>Sheet1!$B$2:$B$14</c:f>
              <c:numCache>
                <c:formatCode>0%</c:formatCode>
                <c:ptCount val="13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6">
                  <c:v>0.97</c:v>
                </c:pt>
                <c:pt idx="7">
                  <c:v>0.97</c:v>
                </c:pt>
                <c:pt idx="8">
                  <c:v>0.97</c:v>
                </c:pt>
                <c:pt idx="9">
                  <c:v>0.97</c:v>
                </c:pt>
                <c:pt idx="10">
                  <c:v>0.97</c:v>
                </c:pt>
                <c:pt idx="11">
                  <c:v>0.97</c:v>
                </c:pt>
                <c:pt idx="12">
                  <c:v>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9A-4D35-B3BE-0CB1212BE3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7567112"/>
        <c:axId val="277567504"/>
      </c:areaChart>
      <c:catAx>
        <c:axId val="2775671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vert="horz"/>
          <a:lstStyle/>
          <a:p>
            <a:pPr>
              <a:defRPr sz="1000">
                <a:latin typeface="BMW Helvetica Light" pitchFamily="2" charset="0"/>
              </a:defRPr>
            </a:pPr>
            <a:endParaRPr lang="en-US"/>
          </a:p>
        </c:txPr>
        <c:crossAx val="277567504"/>
        <c:crosses val="autoZero"/>
        <c:auto val="1"/>
        <c:lblAlgn val="ctr"/>
        <c:lblOffset val="100"/>
        <c:noMultiLvlLbl val="0"/>
      </c:catAx>
      <c:valAx>
        <c:axId val="277567504"/>
        <c:scaling>
          <c:orientation val="minMax"/>
          <c:max val="1"/>
          <c:min val="0.9"/>
        </c:scaling>
        <c:delete val="0"/>
        <c:axPos val="l"/>
        <c:majorGridlines>
          <c:spPr>
            <a:ln>
              <a:solidFill>
                <a:schemeClr val="bg1">
                  <a:lumMod val="85000"/>
                </a:schemeClr>
              </a:solidFill>
            </a:ln>
          </c:spPr>
        </c:majorGridlines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1000" baseline="0">
                <a:latin typeface="BMW Helvetica Light" pitchFamily="2" charset="0"/>
              </a:defRPr>
            </a:pPr>
            <a:endParaRPr lang="en-US"/>
          </a:p>
        </c:txPr>
        <c:crossAx val="277567112"/>
        <c:crosses val="autoZero"/>
        <c:crossBetween val="between"/>
        <c:majorUnit val="1.0000000000000083E-2"/>
      </c:valAx>
      <c:spPr>
        <a:ln>
          <a:noFill/>
        </a:ln>
      </c:spPr>
    </c:plotArea>
    <c:legend>
      <c:legendPos val="r"/>
      <c:overlay val="0"/>
      <c:txPr>
        <a:bodyPr/>
        <a:lstStyle/>
        <a:p>
          <a:pPr>
            <a:defRPr sz="1200">
              <a:latin typeface="BMW Helvetica Light" pitchFamily="2" charset="0"/>
            </a:defRPr>
          </a:pPr>
          <a:endParaRPr lang="en-US"/>
        </a:p>
      </c:txPr>
    </c:legend>
    <c:plotVisOnly val="1"/>
    <c:dispBlanksAs val="zero"/>
    <c:showDLblsOverMax val="0"/>
  </c:chart>
  <c:spPr>
    <a:gradFill>
      <a:gsLst>
        <a:gs pos="100000">
          <a:schemeClr val="bg1">
            <a:lumMod val="95000"/>
          </a:schemeClr>
        </a:gs>
        <a:gs pos="50000">
          <a:srgbClr val="333333">
            <a:tint val="44500"/>
            <a:satMod val="160000"/>
          </a:srgbClr>
        </a:gs>
        <a:gs pos="100000">
          <a:srgbClr val="333333">
            <a:tint val="23500"/>
            <a:satMod val="160000"/>
          </a:srgbClr>
        </a:gs>
      </a:gsLst>
      <a:lin ang="5400000" scaled="0"/>
    </a:gradFill>
    <a:ln>
      <a:solidFill>
        <a:schemeClr val="tx1">
          <a:lumMod val="95000"/>
          <a:lumOff val="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136" cy="498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973" tIns="47987" rIns="95973" bIns="47987" numCol="1" anchor="t" anchorCtr="0" compatLnSpc="1">
            <a:prstTxWarp prst="textNoShape">
              <a:avLst/>
            </a:prstTxWarp>
          </a:bodyPr>
          <a:lstStyle>
            <a:lvl1pPr algn="l" defTabSz="959406" fontAlgn="base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970" y="0"/>
            <a:ext cx="2945136" cy="498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973" tIns="47987" rIns="95973" bIns="47987" numCol="1" anchor="t" anchorCtr="0" compatLnSpc="1">
            <a:prstTxWarp prst="textNoShape">
              <a:avLst/>
            </a:prstTxWarp>
          </a:bodyPr>
          <a:lstStyle>
            <a:lvl1pPr algn="r" defTabSz="959406" fontAlgn="base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19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4292"/>
            <a:ext cx="5438140" cy="4466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973" tIns="47987" rIns="95973" bIns="479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57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7018"/>
            <a:ext cx="2945136" cy="498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973" tIns="47987" rIns="95973" bIns="47987" numCol="1" anchor="b" anchorCtr="0" compatLnSpc="1">
            <a:prstTxWarp prst="textNoShape">
              <a:avLst/>
            </a:prstTxWarp>
          </a:bodyPr>
          <a:lstStyle>
            <a:lvl1pPr algn="l" defTabSz="959406" fontAlgn="base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57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970" y="9427018"/>
            <a:ext cx="2945136" cy="498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973" tIns="47987" rIns="95973" bIns="47987" numCol="1" anchor="b" anchorCtr="0" compatLnSpc="1">
            <a:prstTxWarp prst="textNoShape">
              <a:avLst/>
            </a:prstTxWarp>
          </a:bodyPr>
          <a:lstStyle>
            <a:lvl1pPr algn="r" defTabSz="959406" fontAlgn="base">
              <a:defRPr sz="1300"/>
            </a:lvl1pPr>
          </a:lstStyle>
          <a:p>
            <a:pPr>
              <a:defRPr/>
            </a:pPr>
            <a:fld id="{88A6DE58-CD04-4123-BE6E-2F60A8D3D9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97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85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67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37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01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45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425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38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615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42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88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83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36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6DE58-CD04-4123-BE6E-2F60A8D3D92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33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gro1f0p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306513" y="6078538"/>
            <a:ext cx="201930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/>
          <p:cNvPicPr>
            <a:picLocks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673975" y="5248275"/>
            <a:ext cx="993775" cy="1198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6" name="Rectangle 11"/>
          <p:cNvSpPr>
            <a:spLocks noChangeArrowheads="1"/>
          </p:cNvSpPr>
          <p:nvPr/>
        </p:nvSpPr>
        <p:spPr bwMode="gray">
          <a:xfrm>
            <a:off x="107950" y="176213"/>
            <a:ext cx="1017588" cy="5539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43200" tIns="0" rIns="43200" bIns="0">
            <a:spAutoFit/>
          </a:bodyPr>
          <a:lstStyle/>
          <a:p>
            <a:pPr defTabSz="777875" fontAlgn="b">
              <a:defRPr/>
            </a:pPr>
            <a:r>
              <a:rPr lang="de-DE" altLang="de-CH" sz="900" dirty="0">
                <a:latin typeface="BMWTypeLight" pitchFamily="34" charset="0"/>
              </a:rPr>
              <a:t>BMW G</a:t>
            </a:r>
            <a:r>
              <a:rPr lang="de-CH" altLang="de-CH" sz="900" dirty="0">
                <a:latin typeface="BMWTypeLight" pitchFamily="34" charset="0"/>
              </a:rPr>
              <a:t>roup</a:t>
            </a:r>
          </a:p>
          <a:p>
            <a:pPr defTabSz="777875" fontAlgn="b">
              <a:defRPr/>
            </a:pPr>
            <a:r>
              <a:rPr lang="de-DE" altLang="de-CH" sz="900" dirty="0">
                <a:latin typeface="BMWTypeLight" pitchFamily="34" charset="0"/>
              </a:rPr>
              <a:t>ZA-T-15</a:t>
            </a:r>
          </a:p>
          <a:p>
            <a:pPr defTabSz="777875" fontAlgn="b">
              <a:defRPr/>
            </a:pPr>
            <a:r>
              <a:rPr lang="en-ZA" altLang="de-CH" sz="900" dirty="0">
                <a:latin typeface="BMWTypeLight" pitchFamily="34" charset="0"/>
              </a:rPr>
              <a:t>11 April 2012</a:t>
            </a:r>
            <a:endParaRPr lang="de-DE" altLang="de-CH" sz="900" dirty="0">
              <a:latin typeface="BMWTypeLight" pitchFamily="34" charset="0"/>
            </a:endParaRPr>
          </a:p>
          <a:p>
            <a:pPr defTabSz="777875" fontAlgn="b">
              <a:defRPr/>
            </a:pPr>
            <a:r>
              <a:rPr lang="de-DE" sz="900" dirty="0">
                <a:latin typeface="BMWTypeLight" pitchFamily="34" charset="0"/>
              </a:rPr>
              <a:t>Seite </a:t>
            </a:r>
            <a:fld id="{C55CD9A6-E6E1-4EE1-B64B-94D93A1587E0}" type="slidenum">
              <a:rPr lang="de-DE" sz="900">
                <a:latin typeface="BMWTypeLight" pitchFamily="34" charset="0"/>
              </a:rPr>
              <a:pPr defTabSz="777875" fontAlgn="b">
                <a:defRPr/>
              </a:pPr>
              <a:t>‹#›</a:t>
            </a:fld>
            <a:endParaRPr lang="de-DE" sz="900" dirty="0">
              <a:latin typeface="BMWTypeLight" pitchFamily="34" charset="0"/>
            </a:endParaRPr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10054" y="1439864"/>
            <a:ext cx="7696200" cy="3813175"/>
          </a:xfrm>
        </p:spPr>
        <p:txBody>
          <a:bodyPr/>
          <a:lstStyle>
            <a:lvl1pPr>
              <a:defRPr sz="38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10055" y="117476"/>
            <a:ext cx="7716715" cy="1154113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1481138"/>
            <a:ext cx="4164623" cy="5030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481138"/>
            <a:ext cx="4166089" cy="5030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Z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1108" y="136525"/>
            <a:ext cx="2117481" cy="637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36525"/>
            <a:ext cx="6213231" cy="6375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6"/>
          <p:cNvSpPr>
            <a:spLocks noChangeArrowheads="1"/>
          </p:cNvSpPr>
          <p:nvPr/>
        </p:nvSpPr>
        <p:spPr bwMode="gray">
          <a:xfrm>
            <a:off x="107950" y="176213"/>
            <a:ext cx="1017588" cy="5539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43200" tIns="0" rIns="43200" bIns="0">
            <a:spAutoFit/>
          </a:bodyPr>
          <a:lstStyle/>
          <a:p>
            <a:pPr defTabSz="777875" fontAlgn="b">
              <a:defRPr/>
            </a:pPr>
            <a:r>
              <a:rPr lang="de-DE" altLang="de-CH" sz="900" dirty="0">
                <a:latin typeface="BMWTypeLight" pitchFamily="34" charset="0"/>
              </a:rPr>
              <a:t>BMW G</a:t>
            </a:r>
            <a:r>
              <a:rPr lang="de-CH" altLang="de-CH" sz="900" dirty="0">
                <a:latin typeface="BMWTypeLight" pitchFamily="34" charset="0"/>
              </a:rPr>
              <a:t>roup</a:t>
            </a:r>
          </a:p>
          <a:p>
            <a:pPr defTabSz="777875" fontAlgn="b">
              <a:defRPr/>
            </a:pPr>
            <a:r>
              <a:rPr lang="de-DE" altLang="de-CH" sz="900" dirty="0">
                <a:latin typeface="BMWTypeLight" pitchFamily="34" charset="0"/>
              </a:rPr>
              <a:t>ZA-T-1</a:t>
            </a:r>
          </a:p>
          <a:p>
            <a:pPr defTabSz="777875" fontAlgn="b">
              <a:defRPr/>
            </a:pPr>
            <a:r>
              <a:rPr lang="de-DE" sz="900" dirty="0">
                <a:latin typeface="BMWTypeLight" pitchFamily="34" charset="0"/>
              </a:rPr>
              <a:t>25.01.2010</a:t>
            </a:r>
          </a:p>
          <a:p>
            <a:pPr defTabSz="777875" fontAlgn="b">
              <a:defRPr/>
            </a:pPr>
            <a:r>
              <a:rPr lang="de-DE" sz="900" dirty="0">
                <a:latin typeface="BMWTypeLight" pitchFamily="34" charset="0"/>
              </a:rPr>
              <a:t>Seite </a:t>
            </a:r>
            <a:fld id="{648DFABF-1460-4E34-8D06-7BA92E45207E}" type="slidenum">
              <a:rPr lang="de-DE" sz="900">
                <a:latin typeface="BMWTypeLight" pitchFamily="34" charset="0"/>
              </a:rPr>
              <a:pPr defTabSz="777875" fontAlgn="b">
                <a:defRPr/>
              </a:pPr>
              <a:t>‹#›</a:t>
            </a:fld>
            <a:endParaRPr lang="de-DE" sz="900" dirty="0">
              <a:latin typeface="BMWTypeLight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ZA"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algn="ctr" fontAlgn="b">
              <a:defRPr smtClean="0">
                <a:latin typeface="Arial" charset="0"/>
              </a:defRPr>
            </a:lvl1pPr>
          </a:lstStyle>
          <a:p>
            <a:pPr>
              <a:defRPr/>
            </a:pPr>
            <a:fld id="{9B6858EF-BB4E-4B8A-9CD3-C57933B9FFC5}" type="datetime3">
              <a:rPr lang="en-US"/>
              <a:pPr>
                <a:defRPr/>
              </a:pPr>
              <a:t>11 June 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fontAlgn="b">
              <a:defRPr smtClean="0">
                <a:latin typeface="Arial" charset="0"/>
              </a:defRPr>
            </a:lvl1pPr>
          </a:lstStyle>
          <a:p>
            <a:pPr>
              <a:defRPr/>
            </a:pPr>
            <a:r>
              <a:rPr lang="en-GB"/>
              <a:t>Status: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 algn="ctr" fontAlgn="b">
              <a:defRPr>
                <a:latin typeface="Arial" charset="0"/>
              </a:defRPr>
            </a:lvl1pPr>
          </a:lstStyle>
          <a:p>
            <a:pPr>
              <a:defRPr/>
            </a:pPr>
            <a:fld id="{6F998845-5A5E-4FA9-92F6-E3899964D0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9C94-AF56-4FF0-8921-B745A1DD8524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BFA9A-02BC-4DD3-B3C8-CB32632F032C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9C94-AF56-4FF0-8921-B745A1DD8524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BFA9A-02BC-4DD3-B3C8-CB32632F032C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9C94-AF56-4FF0-8921-B745A1DD8524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BFA9A-02BC-4DD3-B3C8-CB32632F032C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9C94-AF56-4FF0-8921-B745A1DD8524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BFA9A-02BC-4DD3-B3C8-CB32632F032C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9C94-AF56-4FF0-8921-B745A1DD8524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BFA9A-02BC-4DD3-B3C8-CB32632F032C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9C94-AF56-4FF0-8921-B745A1DD8524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BFA9A-02BC-4DD3-B3C8-CB32632F032C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9C94-AF56-4FF0-8921-B745A1DD8524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BFA9A-02BC-4DD3-B3C8-CB32632F032C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9C94-AF56-4FF0-8921-B745A1DD8524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BFA9A-02BC-4DD3-B3C8-CB32632F032C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9C94-AF56-4FF0-8921-B745A1DD8524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BFA9A-02BC-4DD3-B3C8-CB32632F032C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9C94-AF56-4FF0-8921-B745A1DD8524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BFA9A-02BC-4DD3-B3C8-CB32632F032C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9C94-AF56-4FF0-8921-B745A1DD8524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BFA9A-02BC-4DD3-B3C8-CB32632F032C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EC5D-2F38-4A44-ADD5-7D7E89A884D8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DBB1-348E-425B-B46C-AAB355B66403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EC5D-2F38-4A44-ADD5-7D7E89A884D8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DBB1-348E-425B-B46C-AAB355B66403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EC5D-2F38-4A44-ADD5-7D7E89A884D8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DBB1-348E-425B-B46C-AAB355B66403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EC5D-2F38-4A44-ADD5-7D7E89A884D8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DBB1-348E-425B-B46C-AAB355B66403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EC5D-2F38-4A44-ADD5-7D7E89A884D8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DBB1-348E-425B-B46C-AAB355B66403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EC5D-2F38-4A44-ADD5-7D7E89A884D8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DBB1-348E-425B-B46C-AAB355B66403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EC5D-2F38-4A44-ADD5-7D7E89A884D8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DBB1-348E-425B-B46C-AAB355B66403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EC5D-2F38-4A44-ADD5-7D7E89A884D8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DBB1-348E-425B-B46C-AAB355B66403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EC5D-2F38-4A44-ADD5-7D7E89A884D8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DBB1-348E-425B-B46C-AAB355B66403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EC5D-2F38-4A44-ADD5-7D7E89A884D8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DBB1-348E-425B-B46C-AAB355B66403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EC5D-2F38-4A44-ADD5-7D7E89A884D8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DBB1-348E-425B-B46C-AAB355B66403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EC5D-2F38-4A44-ADD5-7D7E89A884D8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1DBB1-348E-425B-B46C-AAB355B66403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481138"/>
            <a:ext cx="8470900" cy="50307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gray">
          <a:xfrm>
            <a:off x="1181100" y="136525"/>
            <a:ext cx="7710488" cy="11033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050" name="Rectangle 26"/>
          <p:cNvSpPr>
            <a:spLocks noChangeArrowheads="1"/>
          </p:cNvSpPr>
          <p:nvPr/>
        </p:nvSpPr>
        <p:spPr bwMode="gray">
          <a:xfrm>
            <a:off x="107950" y="176213"/>
            <a:ext cx="1017588" cy="5539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43200" tIns="0" rIns="43200" bIns="0">
            <a:spAutoFit/>
          </a:bodyPr>
          <a:lstStyle/>
          <a:p>
            <a:pPr defTabSz="777875" fontAlgn="b">
              <a:defRPr/>
            </a:pPr>
            <a:r>
              <a:rPr lang="de-DE" altLang="de-CH" sz="900" dirty="0">
                <a:latin typeface="BMWTypeLight" pitchFamily="34" charset="0"/>
              </a:rPr>
              <a:t>BMW G</a:t>
            </a:r>
            <a:r>
              <a:rPr lang="de-CH" altLang="de-CH" sz="900" dirty="0">
                <a:latin typeface="BMWTypeLight" pitchFamily="34" charset="0"/>
              </a:rPr>
              <a:t>roup</a:t>
            </a:r>
          </a:p>
          <a:p>
            <a:pPr defTabSz="777875" fontAlgn="b">
              <a:defRPr/>
            </a:pPr>
            <a:r>
              <a:rPr lang="de-DE" altLang="de-CH" sz="900" dirty="0">
                <a:latin typeface="BMWTypeLight" pitchFamily="34" charset="0"/>
              </a:rPr>
              <a:t>TS-R-15</a:t>
            </a:r>
          </a:p>
          <a:p>
            <a:pPr defTabSz="777875" fontAlgn="b">
              <a:defRPr/>
            </a:pPr>
            <a:r>
              <a:rPr lang="en-ZA" altLang="de-CH" sz="900" dirty="0">
                <a:latin typeface="BMWTypeLight" pitchFamily="34" charset="0"/>
              </a:rPr>
              <a:t>01 MAR 2019</a:t>
            </a:r>
            <a:endParaRPr lang="de-DE" altLang="de-CH" sz="900" dirty="0">
              <a:latin typeface="BMWTypeLight" pitchFamily="34" charset="0"/>
            </a:endParaRPr>
          </a:p>
          <a:p>
            <a:pPr defTabSz="777875" fontAlgn="b">
              <a:defRPr/>
            </a:pPr>
            <a:r>
              <a:rPr lang="de-DE" sz="900" dirty="0">
                <a:latin typeface="BMWTypeLight" pitchFamily="34" charset="0"/>
              </a:rPr>
              <a:t>Seite </a:t>
            </a:r>
            <a:fld id="{BFBD758C-C44A-49B6-9F0B-07CDC9E07334}" type="slidenum">
              <a:rPr lang="de-DE" sz="900">
                <a:latin typeface="BMWTypeLight" pitchFamily="34" charset="0"/>
              </a:rPr>
              <a:pPr defTabSz="777875" fontAlgn="b">
                <a:defRPr/>
              </a:pPr>
              <a:t>‹#›</a:t>
            </a:fld>
            <a:endParaRPr lang="de-DE" sz="900" dirty="0">
              <a:latin typeface="BMWTypeLight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64C6D-6EA9-6B82-BF27-CA6A026E218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12387" y="66243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ZA" sz="1200">
                <a:solidFill>
                  <a:srgbClr val="C00000"/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  <p:sldLayoutId id="2147483672" r:id="rId3"/>
    <p:sldLayoutId id="2147483671" r:id="rId4"/>
    <p:sldLayoutId id="2147483670" r:id="rId5"/>
    <p:sldLayoutId id="2147483669" r:id="rId6"/>
    <p:sldLayoutId id="2147483668" r:id="rId7"/>
    <p:sldLayoutId id="2147483667" r:id="rId8"/>
    <p:sldLayoutId id="2147483666" r:id="rId9"/>
    <p:sldLayoutId id="2147483665" r:id="rId10"/>
    <p:sldLayoutId id="2147483664" r:id="rId11"/>
    <p:sldLayoutId id="2147483675" r:id="rId12"/>
  </p:sldLayoutIdLst>
  <p:transition/>
  <p:hf sldNum="0" hdr="0"/>
  <p:txStyles>
    <p:titleStyle>
      <a:lvl1pPr algn="l" defTabSz="896938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896938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BMWTypeRegular" pitchFamily="34" charset="0"/>
        </a:defRPr>
      </a:lvl2pPr>
      <a:lvl3pPr algn="l" defTabSz="896938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BMWTypeRegular" pitchFamily="34" charset="0"/>
        </a:defRPr>
      </a:lvl3pPr>
      <a:lvl4pPr algn="l" defTabSz="896938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BMWTypeRegular" pitchFamily="34" charset="0"/>
        </a:defRPr>
      </a:lvl4pPr>
      <a:lvl5pPr algn="l" defTabSz="896938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BMWTypeRegular" pitchFamily="34" charset="0"/>
        </a:defRPr>
      </a:lvl5pPr>
      <a:lvl6pPr marL="457200" algn="l" defTabSz="896938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BMWTypeRegular" pitchFamily="34" charset="0"/>
        </a:defRPr>
      </a:lvl6pPr>
      <a:lvl7pPr marL="914400" algn="l" defTabSz="896938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BMWTypeRegular" pitchFamily="34" charset="0"/>
        </a:defRPr>
      </a:lvl7pPr>
      <a:lvl8pPr marL="1371600" algn="l" defTabSz="896938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BMWTypeRegular" pitchFamily="34" charset="0"/>
        </a:defRPr>
      </a:lvl8pPr>
      <a:lvl9pPr marL="1828800" algn="l" defTabSz="896938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BMWTypeRegular" pitchFamily="34" charset="0"/>
        </a:defRPr>
      </a:lvl9pPr>
    </p:titleStyle>
    <p:bodyStyle>
      <a:lvl1pPr marL="192088" indent="-192088" algn="l" defTabSz="917575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68325" indent="-185738" algn="l" defTabSz="917575" rtl="0" eaLnBrk="0" fontAlgn="base" hangingPunct="0">
        <a:lnSpc>
          <a:spcPct val="95000"/>
        </a:lnSpc>
        <a:spcBef>
          <a:spcPct val="15000"/>
        </a:spcBef>
        <a:spcAft>
          <a:spcPct val="0"/>
        </a:spcAft>
        <a:buSzPct val="70000"/>
        <a:buChar char="–"/>
        <a:defRPr sz="2000">
          <a:solidFill>
            <a:schemeClr val="tx1"/>
          </a:solidFill>
          <a:latin typeface="+mn-lt"/>
        </a:defRPr>
      </a:lvl2pPr>
      <a:lvl3pPr marL="952500" indent="-193675" algn="l" defTabSz="917575" rtl="0" eaLnBrk="0" fontAlgn="base" hangingPunct="0">
        <a:lnSpc>
          <a:spcPct val="95000"/>
        </a:lnSpc>
        <a:spcBef>
          <a:spcPct val="10000"/>
        </a:spcBef>
        <a:spcAft>
          <a:spcPct val="0"/>
        </a:spcAft>
        <a:buSzPct val="70000"/>
        <a:buChar char="o"/>
        <a:defRPr>
          <a:solidFill>
            <a:schemeClr val="tx1"/>
          </a:solidFill>
          <a:latin typeface="+mn-lt"/>
        </a:defRPr>
      </a:lvl3pPr>
      <a:lvl4pPr marL="1336675" indent="-193675" algn="l" defTabSz="917575" rtl="0" eaLnBrk="0" fontAlgn="base" hangingPunct="0">
        <a:lnSpc>
          <a:spcPct val="95000"/>
        </a:lnSpc>
        <a:spcBef>
          <a:spcPct val="5000"/>
        </a:spcBef>
        <a:spcAft>
          <a:spcPct val="0"/>
        </a:spcAft>
        <a:buSzPct val="70000"/>
        <a:buFont typeface="Wingdings" pitchFamily="2" charset="2"/>
        <a:buChar char="Ø"/>
        <a:defRPr sz="1600">
          <a:solidFill>
            <a:schemeClr val="tx1"/>
          </a:solidFill>
          <a:latin typeface="+mn-lt"/>
        </a:defRPr>
      </a:lvl4pPr>
      <a:lvl5pPr marL="1712913" indent="-185738" algn="l" defTabSz="917575" rtl="0" eaLnBrk="0" fontAlgn="base" hangingPunct="0">
        <a:lnSpc>
          <a:spcPct val="95000"/>
        </a:lnSpc>
        <a:spcBef>
          <a:spcPct val="0"/>
        </a:spcBef>
        <a:spcAft>
          <a:spcPct val="0"/>
        </a:spcAft>
        <a:buSzPct val="80000"/>
        <a:buFont typeface="Symbol" pitchFamily="18" charset="2"/>
        <a:buChar char="®"/>
        <a:defRPr sz="1400">
          <a:solidFill>
            <a:schemeClr val="tx1"/>
          </a:solidFill>
          <a:latin typeface="+mn-lt"/>
        </a:defRPr>
      </a:lvl5pPr>
      <a:lvl6pPr marL="2170113" indent="-185738" algn="l" defTabSz="917575" rtl="0" eaLnBrk="1" fontAlgn="base" hangingPunct="1">
        <a:lnSpc>
          <a:spcPct val="95000"/>
        </a:lnSpc>
        <a:spcBef>
          <a:spcPct val="0"/>
        </a:spcBef>
        <a:spcAft>
          <a:spcPct val="0"/>
        </a:spcAft>
        <a:buSzPct val="80000"/>
        <a:buFont typeface="Symbol" pitchFamily="18" charset="2"/>
        <a:buChar char="®"/>
        <a:defRPr sz="1400">
          <a:solidFill>
            <a:schemeClr val="tx1"/>
          </a:solidFill>
          <a:latin typeface="+mn-lt"/>
        </a:defRPr>
      </a:lvl6pPr>
      <a:lvl7pPr marL="2627313" indent="-185738" algn="l" defTabSz="917575" rtl="0" eaLnBrk="1" fontAlgn="base" hangingPunct="1">
        <a:lnSpc>
          <a:spcPct val="95000"/>
        </a:lnSpc>
        <a:spcBef>
          <a:spcPct val="0"/>
        </a:spcBef>
        <a:spcAft>
          <a:spcPct val="0"/>
        </a:spcAft>
        <a:buSzPct val="80000"/>
        <a:buFont typeface="Symbol" pitchFamily="18" charset="2"/>
        <a:buChar char="®"/>
        <a:defRPr sz="1400">
          <a:solidFill>
            <a:schemeClr val="tx1"/>
          </a:solidFill>
          <a:latin typeface="+mn-lt"/>
        </a:defRPr>
      </a:lvl7pPr>
      <a:lvl8pPr marL="3084513" indent="-185738" algn="l" defTabSz="917575" rtl="0" eaLnBrk="1" fontAlgn="base" hangingPunct="1">
        <a:lnSpc>
          <a:spcPct val="95000"/>
        </a:lnSpc>
        <a:spcBef>
          <a:spcPct val="0"/>
        </a:spcBef>
        <a:spcAft>
          <a:spcPct val="0"/>
        </a:spcAft>
        <a:buSzPct val="80000"/>
        <a:buFont typeface="Symbol" pitchFamily="18" charset="2"/>
        <a:buChar char="®"/>
        <a:defRPr sz="1400">
          <a:solidFill>
            <a:schemeClr val="tx1"/>
          </a:solidFill>
          <a:latin typeface="+mn-lt"/>
        </a:defRPr>
      </a:lvl8pPr>
      <a:lvl9pPr marL="3541713" indent="-185738" algn="l" defTabSz="917575" rtl="0" eaLnBrk="1" fontAlgn="base" hangingPunct="1">
        <a:lnSpc>
          <a:spcPct val="95000"/>
        </a:lnSpc>
        <a:spcBef>
          <a:spcPct val="0"/>
        </a:spcBef>
        <a:spcAft>
          <a:spcPct val="0"/>
        </a:spcAft>
        <a:buSzPct val="80000"/>
        <a:buFont typeface="Symbol" pitchFamily="18" charset="2"/>
        <a:buChar char="®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A9C94-AF56-4FF0-8921-B745A1DD8524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BFA9A-02BC-4DD3-B3C8-CB32632F032C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D9E19-382E-AD86-19AF-7138194D4AE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12387" y="66243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ZA" sz="1200">
                <a:solidFill>
                  <a:srgbClr val="C00000"/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EEC5D-2F38-4A44-ADD5-7D7E89A884D8}" type="datetimeFigureOut">
              <a:rPr lang="en-ZA" smtClean="0"/>
              <a:pPr/>
              <a:t>2025/06/11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1DBB1-348E-425B-B46C-AAB355B66403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B76BF7-FCCE-07CF-1676-80A05BF9EA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12387" y="66243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ZA" sz="1200">
                <a:solidFill>
                  <a:srgbClr val="C00000"/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771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771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2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390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2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3295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3486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" name="Picture 3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3295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771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" name="Picture 4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" name="Picture 5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771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" name="Picture 5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390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" name="Picture 5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" name="Picture 5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" name="Picture 6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3295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6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3486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" name="Picture 6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3295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0" name="Group 69"/>
          <p:cNvGrpSpPr/>
          <p:nvPr/>
        </p:nvGrpSpPr>
        <p:grpSpPr>
          <a:xfrm>
            <a:off x="6797616" y="165101"/>
            <a:ext cx="2178110" cy="1102982"/>
            <a:chOff x="6305550" y="165100"/>
            <a:chExt cx="2670175" cy="1425869"/>
          </a:xfrm>
        </p:grpSpPr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74" name="Picture 73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76" name="Title 3"/>
          <p:cNvSpPr txBox="1">
            <a:spLocks/>
          </p:cNvSpPr>
          <p:nvPr/>
        </p:nvSpPr>
        <p:spPr bwMode="gray">
          <a:xfrm>
            <a:off x="976313" y="119911"/>
            <a:ext cx="5596503" cy="86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on-time delivery : Jan ‘25 - Dec ‘25</a:t>
            </a: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896938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sz="2000" b="1" kern="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7" name="Chart 76"/>
          <p:cNvGraphicFramePr/>
          <p:nvPr>
            <p:extLst>
              <p:ext uri="{D42A27DB-BD31-4B8C-83A1-F6EECF244321}">
                <p14:modId xmlns:p14="http://schemas.microsoft.com/office/powerpoint/2010/main" val="3059390205"/>
              </p:ext>
            </p:extLst>
          </p:nvPr>
        </p:nvGraphicFramePr>
        <p:xfrm>
          <a:off x="169232" y="1268082"/>
          <a:ext cx="8674408" cy="3747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237742"/>
              </p:ext>
            </p:extLst>
          </p:nvPr>
        </p:nvGraphicFramePr>
        <p:xfrm>
          <a:off x="169232" y="5193031"/>
          <a:ext cx="8485880" cy="1542001"/>
        </p:xfrm>
        <a:graphic>
          <a:graphicData uri="http://schemas.openxmlformats.org/drawingml/2006/table">
            <a:tbl>
              <a:tblPr/>
              <a:tblGrid>
                <a:gridCol w="1146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6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38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50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56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0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20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209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11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29172">
                <a:tc>
                  <a:txBody>
                    <a:bodyPr/>
                    <a:lstStyle/>
                    <a:p>
                      <a:pPr algn="l" rtl="0" fontAlgn="b"/>
                      <a:r>
                        <a:rPr lang="en-ZA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Deliveries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BMW Group Condensed" panose="020B0606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Average 2025</a:t>
                      </a:r>
                      <a:r>
                        <a:rPr lang="en-ZA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ZA" sz="1100" b="1" i="0" u="none" strike="noStrike" baseline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99.68</a:t>
                      </a:r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MW Group Condensed" panose="020B0606020202020204" pitchFamily="34" charset="0"/>
                        </a:rPr>
                        <a:t>Average 2021</a:t>
                      </a:r>
                      <a:r>
                        <a:rPr lang="en-ZA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BMW Group Condensed" panose="020B0606020202020204" pitchFamily="34" charset="0"/>
                        </a:rPr>
                        <a:t> = 86.73</a:t>
                      </a:r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MW Group Condensed" panose="020B0606020202020204" pitchFamily="34" charset="0"/>
                        </a:rPr>
                        <a:t>%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BMW Group Condensed" panose="020B0606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MW Group Condensed" panose="020B0606020202020204" pitchFamily="34" charset="0"/>
                        </a:rPr>
                        <a:t>Average 2021</a:t>
                      </a:r>
                      <a:r>
                        <a:rPr lang="en-ZA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BMW Group Condensed" panose="020B0606020202020204" pitchFamily="34" charset="0"/>
                        </a:rPr>
                        <a:t> = 86.73</a:t>
                      </a:r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MW Group Condensed" panose="020B0606020202020204" pitchFamily="34" charset="0"/>
                        </a:rPr>
                        <a:t>%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BMW Group Condensed" panose="020B0606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26">
                <a:tc>
                  <a:txBody>
                    <a:bodyPr/>
                    <a:lstStyle/>
                    <a:p>
                      <a:pPr algn="l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25-Jan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25-Feb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25-Mar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25-Apr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25-May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25-Jun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25-Jul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25-Aug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25-Sep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25-Oct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25-Nov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25-Dec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746">
                <a:tc>
                  <a:txBody>
                    <a:bodyPr/>
                    <a:lstStyle/>
                    <a:p>
                      <a:pPr algn="l" rtl="0" fontAlgn="b"/>
                      <a:r>
                        <a:rPr lang="en-ZA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Measured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26">
                <a:tc>
                  <a:txBody>
                    <a:bodyPr/>
                    <a:lstStyle/>
                    <a:p>
                      <a:pPr algn="l" rtl="0" fontAlgn="b"/>
                      <a:r>
                        <a:rPr lang="en-ZA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26">
                <a:tc>
                  <a:txBody>
                    <a:bodyPr/>
                    <a:lstStyle/>
                    <a:p>
                      <a:pPr algn="l" rtl="0" fontAlgn="b"/>
                      <a:r>
                        <a:rPr lang="en-ZA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 time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26">
                <a:tc>
                  <a:txBody>
                    <a:bodyPr/>
                    <a:lstStyle/>
                    <a:p>
                      <a:pPr algn="l" rtl="0" fontAlgn="b"/>
                      <a:r>
                        <a:rPr lang="en-ZA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99.34%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98.84</a:t>
                      </a:r>
                    </a:p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7838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771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771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2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390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2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3295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3486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" name="Picture 3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3295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771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" name="Picture 4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" name="Picture 5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771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" name="Picture 5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390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" name="Picture 5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" name="Picture 5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1581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" name="Picture 6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3295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6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34861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" name="Picture 6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6300" y="3295650"/>
            <a:ext cx="3905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0" name="Group 69"/>
          <p:cNvGrpSpPr/>
          <p:nvPr/>
        </p:nvGrpSpPr>
        <p:grpSpPr>
          <a:xfrm>
            <a:off x="6797616" y="165101"/>
            <a:ext cx="2178110" cy="1102982"/>
            <a:chOff x="6305550" y="165100"/>
            <a:chExt cx="2670175" cy="1425869"/>
          </a:xfrm>
        </p:grpSpPr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74" name="Picture 73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76" name="Title 3"/>
          <p:cNvSpPr txBox="1">
            <a:spLocks/>
          </p:cNvSpPr>
          <p:nvPr/>
        </p:nvSpPr>
        <p:spPr bwMode="gray">
          <a:xfrm>
            <a:off x="976313" y="119911"/>
            <a:ext cx="5596503" cy="8216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on-time delivery : Jan ‘25 - Dec ‘25</a:t>
            </a: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896938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sz="2000" b="1" kern="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7" name="Chart 76"/>
          <p:cNvGraphicFramePr/>
          <p:nvPr>
            <p:extLst>
              <p:ext uri="{D42A27DB-BD31-4B8C-83A1-F6EECF244321}">
                <p14:modId xmlns:p14="http://schemas.microsoft.com/office/powerpoint/2010/main" val="2674960021"/>
              </p:ext>
            </p:extLst>
          </p:nvPr>
        </p:nvGraphicFramePr>
        <p:xfrm>
          <a:off x="169232" y="1268082"/>
          <a:ext cx="8674408" cy="3747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978674"/>
              </p:ext>
            </p:extLst>
          </p:nvPr>
        </p:nvGraphicFramePr>
        <p:xfrm>
          <a:off x="172015" y="5211139"/>
          <a:ext cx="3367890" cy="1135941"/>
        </p:xfrm>
        <a:graphic>
          <a:graphicData uri="http://schemas.openxmlformats.org/drawingml/2006/table">
            <a:tbl>
              <a:tblPr/>
              <a:tblGrid>
                <a:gridCol w="1455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903">
                <a:tc>
                  <a:txBody>
                    <a:bodyPr/>
                    <a:lstStyle/>
                    <a:p>
                      <a:pPr algn="l" rtl="0" fontAlgn="b"/>
                      <a:r>
                        <a:rPr lang="en-ZA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Performance  Catalogue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229">
                <a:tc>
                  <a:txBody>
                    <a:bodyPr/>
                    <a:lstStyle/>
                    <a:p>
                      <a:pPr algn="l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baseline="0" dirty="0">
                        <a:solidFill>
                          <a:srgbClr val="33CC33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97">
                <a:tc>
                  <a:txBody>
                    <a:bodyPr/>
                    <a:lstStyle/>
                    <a:p>
                      <a:pPr algn="l" rtl="0" fontAlgn="b"/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 Time Delivery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&gt;=98.00%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&lt;=97.00%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en-ZA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97.00%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312">
                <a:tc>
                  <a:txBody>
                    <a:bodyPr/>
                    <a:lstStyle/>
                    <a:p>
                      <a:pPr algn="l" rtl="0" fontAlgn="b"/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Damage free Ration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&gt;=99.00%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&lt;=98.50%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en-ZA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98.50%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97384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Title 3"/>
          <p:cNvSpPr txBox="1">
            <a:spLocks/>
          </p:cNvSpPr>
          <p:nvPr/>
        </p:nvSpPr>
        <p:spPr bwMode="gray">
          <a:xfrm>
            <a:off x="956798" y="143893"/>
            <a:ext cx="5389981" cy="665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damages analysis: Jan 2025</a:t>
            </a: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31073" y="6180639"/>
            <a:ext cx="1314090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On-time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571" y="6498565"/>
            <a:ext cx="1319592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Delivery Damage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797616" y="165101"/>
            <a:ext cx="2178110" cy="1102982"/>
            <a:chOff x="6305550" y="165100"/>
            <a:chExt cx="2670175" cy="1425869"/>
          </a:xfrm>
        </p:grpSpPr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55" name="Picture 54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50836" y="5708824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Overall performance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9925" y="5900169"/>
            <a:ext cx="94640" cy="10058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66FF66"/>
              </a:solidFill>
              <a:latin typeface="BMW Helvetica Light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64090" y="5900632"/>
            <a:ext cx="103300" cy="100609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FF0000"/>
              </a:solidFill>
              <a:latin typeface="BMW Helvetica Light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38154" y="2951033"/>
            <a:ext cx="755529" cy="1308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ZA" sz="700" b="1" dirty="0">
                <a:solidFill>
                  <a:schemeClr val="bg1"/>
                </a:solidFill>
                <a:latin typeface="BMW Helvetica Light" pitchFamily="2" charset="0"/>
              </a:rPr>
              <a:t>98.\%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D8B9A1-D8DC-7990-7FBA-3DFE0D030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183209"/>
              </p:ext>
            </p:extLst>
          </p:nvPr>
        </p:nvGraphicFramePr>
        <p:xfrm>
          <a:off x="142874" y="1282276"/>
          <a:ext cx="8832850" cy="4217759"/>
        </p:xfrm>
        <a:graphic>
          <a:graphicData uri="http://schemas.openxmlformats.org/drawingml/2006/table">
            <a:tbl>
              <a:tblPr/>
              <a:tblGrid>
                <a:gridCol w="1117398">
                  <a:extLst>
                    <a:ext uri="{9D8B030D-6E8A-4147-A177-3AD203B41FA5}">
                      <a16:colId xmlns:a16="http://schemas.microsoft.com/office/drawing/2014/main" val="671790469"/>
                    </a:ext>
                  </a:extLst>
                </a:gridCol>
                <a:gridCol w="1117398">
                  <a:extLst>
                    <a:ext uri="{9D8B030D-6E8A-4147-A177-3AD203B41FA5}">
                      <a16:colId xmlns:a16="http://schemas.microsoft.com/office/drawing/2014/main" val="2601372030"/>
                    </a:ext>
                  </a:extLst>
                </a:gridCol>
                <a:gridCol w="850664">
                  <a:extLst>
                    <a:ext uri="{9D8B030D-6E8A-4147-A177-3AD203B41FA5}">
                      <a16:colId xmlns:a16="http://schemas.microsoft.com/office/drawing/2014/main" val="3969037907"/>
                    </a:ext>
                  </a:extLst>
                </a:gridCol>
                <a:gridCol w="886709">
                  <a:extLst>
                    <a:ext uri="{9D8B030D-6E8A-4147-A177-3AD203B41FA5}">
                      <a16:colId xmlns:a16="http://schemas.microsoft.com/office/drawing/2014/main" val="1539735205"/>
                    </a:ext>
                  </a:extLst>
                </a:gridCol>
                <a:gridCol w="800201">
                  <a:extLst>
                    <a:ext uri="{9D8B030D-6E8A-4147-A177-3AD203B41FA5}">
                      <a16:colId xmlns:a16="http://schemas.microsoft.com/office/drawing/2014/main" val="1501680991"/>
                    </a:ext>
                  </a:extLst>
                </a:gridCol>
                <a:gridCol w="1297624">
                  <a:extLst>
                    <a:ext uri="{9D8B030D-6E8A-4147-A177-3AD203B41FA5}">
                      <a16:colId xmlns:a16="http://schemas.microsoft.com/office/drawing/2014/main" val="3666267296"/>
                    </a:ext>
                  </a:extLst>
                </a:gridCol>
                <a:gridCol w="713692">
                  <a:extLst>
                    <a:ext uri="{9D8B030D-6E8A-4147-A177-3AD203B41FA5}">
                      <a16:colId xmlns:a16="http://schemas.microsoft.com/office/drawing/2014/main" val="214062803"/>
                    </a:ext>
                  </a:extLst>
                </a:gridCol>
                <a:gridCol w="792992">
                  <a:extLst>
                    <a:ext uri="{9D8B030D-6E8A-4147-A177-3AD203B41FA5}">
                      <a16:colId xmlns:a16="http://schemas.microsoft.com/office/drawing/2014/main" val="779659298"/>
                    </a:ext>
                  </a:extLst>
                </a:gridCol>
                <a:gridCol w="513643">
                  <a:extLst>
                    <a:ext uri="{9D8B030D-6E8A-4147-A177-3AD203B41FA5}">
                      <a16:colId xmlns:a16="http://schemas.microsoft.com/office/drawing/2014/main" val="483641693"/>
                    </a:ext>
                  </a:extLst>
                </a:gridCol>
                <a:gridCol w="742529">
                  <a:extLst>
                    <a:ext uri="{9D8B030D-6E8A-4147-A177-3AD203B41FA5}">
                      <a16:colId xmlns:a16="http://schemas.microsoft.com/office/drawing/2014/main" val="205974046"/>
                    </a:ext>
                  </a:extLst>
                </a:gridCol>
              </a:tblGrid>
              <a:tr h="139266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 TRANSPORT MONTHLY DAMAGE REPORT - January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914762"/>
                  </a:ext>
                </a:extLst>
              </a:tr>
              <a:tr h="139266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Statistics (per region)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rowSpan="21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rowSpan="21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890778"/>
                  </a:ext>
                </a:extLst>
              </a:tr>
              <a:tr h="139266"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Province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Deliveries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% Damage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Deliveries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% Damage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011766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Gauteng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289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289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0.69%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939646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 West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643221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Free State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536772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164585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Mpumalanga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519929"/>
                  </a:ext>
                </a:extLst>
              </a:tr>
              <a:tr h="278530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Northern Province </a:t>
                      </a:r>
                      <a:b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(Limpopo)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902888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Namibia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9273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Swaziland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059654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KwazuluNatal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029404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Western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96543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Eastern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778886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Botswana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131320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Mozambique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297559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Zimbabwe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160737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VDC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668542"/>
                  </a:ext>
                </a:extLst>
              </a:tr>
              <a:tr h="13926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307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307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730435"/>
                  </a:ext>
                </a:extLst>
              </a:tr>
              <a:tr h="139266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184909"/>
                  </a:ext>
                </a:extLst>
              </a:tr>
              <a:tr h="13926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* System recon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753425"/>
                  </a:ext>
                </a:extLst>
              </a:tr>
              <a:tr h="132633"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37190"/>
                  </a:ext>
                </a:extLst>
              </a:tr>
              <a:tr h="112738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51267"/>
                  </a:ext>
                </a:extLst>
              </a:tr>
              <a:tr h="139266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 In-transit damage claim detail: January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934078"/>
                  </a:ext>
                </a:extLst>
              </a:tr>
              <a:tr h="27853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CHASSIS 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DETAIL AND REASON FOR DAMAGE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PAYABLE 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AMOUNT                 (excl. VAT)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Region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Load nr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Driver negligence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252585"/>
                  </a:ext>
                </a:extLst>
              </a:tr>
              <a:tr h="132633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918082"/>
                  </a:ext>
                </a:extLst>
              </a:tr>
              <a:tr h="132633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058390"/>
                  </a:ext>
                </a:extLst>
              </a:tr>
              <a:tr h="112738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5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24962"/>
                  </a:ext>
                </a:extLst>
              </a:tr>
              <a:tr h="112738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effectLst/>
                          <a:latin typeface="BMWType V2 Regular" pitchFamily="2" charset="0"/>
                        </a:rPr>
                        <a:t>R 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884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40954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Title 3"/>
          <p:cNvSpPr txBox="1">
            <a:spLocks/>
          </p:cNvSpPr>
          <p:nvPr/>
        </p:nvSpPr>
        <p:spPr bwMode="gray">
          <a:xfrm>
            <a:off x="973903" y="79670"/>
            <a:ext cx="5389981" cy="665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damages analysis: February 2025</a:t>
            </a: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8446" y="6199516"/>
            <a:ext cx="1314090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On-time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571" y="6498565"/>
            <a:ext cx="1319592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Delivery Damage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797616" y="165101"/>
            <a:ext cx="2087766" cy="1015570"/>
            <a:chOff x="6305550" y="165100"/>
            <a:chExt cx="2670175" cy="1425869"/>
          </a:xfrm>
        </p:grpSpPr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55" name="Picture 54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50836" y="5708824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Overall performance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9925" y="5900169"/>
            <a:ext cx="94640" cy="10058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66FF66"/>
              </a:solidFill>
              <a:latin typeface="BMW Helvetica Light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64090" y="5900632"/>
            <a:ext cx="103300" cy="100609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FF0000"/>
              </a:solidFill>
              <a:latin typeface="BMW Helvetica Light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38154" y="2951033"/>
            <a:ext cx="755529" cy="1308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ZA" sz="700" b="1" dirty="0">
                <a:solidFill>
                  <a:schemeClr val="bg1"/>
                </a:solidFill>
                <a:latin typeface="BMW Helvetica Light" pitchFamily="2" charset="0"/>
              </a:rPr>
              <a:t>98.\%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378A62-B640-EAB3-146E-2F8917695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838785"/>
              </p:ext>
            </p:extLst>
          </p:nvPr>
        </p:nvGraphicFramePr>
        <p:xfrm>
          <a:off x="287874" y="1190625"/>
          <a:ext cx="8597508" cy="4410016"/>
        </p:xfrm>
        <a:graphic>
          <a:graphicData uri="http://schemas.openxmlformats.org/drawingml/2006/table">
            <a:tbl>
              <a:tblPr/>
              <a:tblGrid>
                <a:gridCol w="1087626">
                  <a:extLst>
                    <a:ext uri="{9D8B030D-6E8A-4147-A177-3AD203B41FA5}">
                      <a16:colId xmlns:a16="http://schemas.microsoft.com/office/drawing/2014/main" val="970999947"/>
                    </a:ext>
                  </a:extLst>
                </a:gridCol>
                <a:gridCol w="1087626">
                  <a:extLst>
                    <a:ext uri="{9D8B030D-6E8A-4147-A177-3AD203B41FA5}">
                      <a16:colId xmlns:a16="http://schemas.microsoft.com/office/drawing/2014/main" val="3083703619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1193997257"/>
                    </a:ext>
                  </a:extLst>
                </a:gridCol>
                <a:gridCol w="863084">
                  <a:extLst>
                    <a:ext uri="{9D8B030D-6E8A-4147-A177-3AD203B41FA5}">
                      <a16:colId xmlns:a16="http://schemas.microsoft.com/office/drawing/2014/main" val="3258213659"/>
                    </a:ext>
                  </a:extLst>
                </a:gridCol>
                <a:gridCol w="778881">
                  <a:extLst>
                    <a:ext uri="{9D8B030D-6E8A-4147-A177-3AD203B41FA5}">
                      <a16:colId xmlns:a16="http://schemas.microsoft.com/office/drawing/2014/main" val="2858204270"/>
                    </a:ext>
                  </a:extLst>
                </a:gridCol>
                <a:gridCol w="1263050">
                  <a:extLst>
                    <a:ext uri="{9D8B030D-6E8A-4147-A177-3AD203B41FA5}">
                      <a16:colId xmlns:a16="http://schemas.microsoft.com/office/drawing/2014/main" val="351787056"/>
                    </a:ext>
                  </a:extLst>
                </a:gridCol>
                <a:gridCol w="694677">
                  <a:extLst>
                    <a:ext uri="{9D8B030D-6E8A-4147-A177-3AD203B41FA5}">
                      <a16:colId xmlns:a16="http://schemas.microsoft.com/office/drawing/2014/main" val="3913916161"/>
                    </a:ext>
                  </a:extLst>
                </a:gridCol>
                <a:gridCol w="771863">
                  <a:extLst>
                    <a:ext uri="{9D8B030D-6E8A-4147-A177-3AD203B41FA5}">
                      <a16:colId xmlns:a16="http://schemas.microsoft.com/office/drawing/2014/main" val="323765842"/>
                    </a:ext>
                  </a:extLst>
                </a:gridCol>
                <a:gridCol w="499957">
                  <a:extLst>
                    <a:ext uri="{9D8B030D-6E8A-4147-A177-3AD203B41FA5}">
                      <a16:colId xmlns:a16="http://schemas.microsoft.com/office/drawing/2014/main" val="306159121"/>
                    </a:ext>
                  </a:extLst>
                </a:gridCol>
                <a:gridCol w="722745">
                  <a:extLst>
                    <a:ext uri="{9D8B030D-6E8A-4147-A177-3AD203B41FA5}">
                      <a16:colId xmlns:a16="http://schemas.microsoft.com/office/drawing/2014/main" val="4241287603"/>
                    </a:ext>
                  </a:extLst>
                </a:gridCol>
              </a:tblGrid>
              <a:tr h="145614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 TRANSPORT MONTHLY DAMAGE REPORT - February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222808"/>
                  </a:ext>
                </a:extLst>
              </a:tr>
              <a:tr h="145614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Statistics (per region)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rowSpan="21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rowSpan="21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873795"/>
                  </a:ext>
                </a:extLst>
              </a:tr>
              <a:tr h="145614"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Province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Deliveries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% Damage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Deliveries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% Damage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384245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Gauteng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279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568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0.35%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541349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 West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331030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Free State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481654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465922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Mpumalanga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627239"/>
                  </a:ext>
                </a:extLst>
              </a:tr>
              <a:tr h="291227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Northern Province </a:t>
                      </a:r>
                      <a:b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(Limpopo)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53187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Namibia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707702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Swaziland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31079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KwazuluNatal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62258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Western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404840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Eastern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394245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Botswana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633714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Mozambique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847130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Zimbabwe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883901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VDC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280626"/>
                  </a:ext>
                </a:extLst>
              </a:tr>
              <a:tr h="14561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301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608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795697"/>
                  </a:ext>
                </a:extLst>
              </a:tr>
              <a:tr h="145614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998332"/>
                  </a:ext>
                </a:extLst>
              </a:tr>
              <a:tr h="14561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* System recon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384626"/>
                  </a:ext>
                </a:extLst>
              </a:tr>
              <a:tr h="138679"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595116"/>
                  </a:ext>
                </a:extLst>
              </a:tr>
              <a:tr h="117877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247279"/>
                  </a:ext>
                </a:extLst>
              </a:tr>
              <a:tr h="145614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 In-transit damage claim detail: February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657847"/>
                  </a:ext>
                </a:extLst>
              </a:tr>
              <a:tr h="291227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CHASSIS 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DETAIL AND REASON FOR DAMAGE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PAYABLE 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AMOUNT                 (excl. VAT)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Region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Load nr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Driver negligence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904129"/>
                  </a:ext>
                </a:extLst>
              </a:tr>
              <a:tr h="138679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579922"/>
                  </a:ext>
                </a:extLst>
              </a:tr>
              <a:tr h="138679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094302"/>
                  </a:ext>
                </a:extLst>
              </a:tr>
              <a:tr h="117877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5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321661"/>
                  </a:ext>
                </a:extLst>
              </a:tr>
              <a:tr h="117877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effectLst/>
                          <a:latin typeface="BMWType V2 Regular" pitchFamily="2" charset="0"/>
                        </a:rPr>
                        <a:t>R 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623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74288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Title 3"/>
          <p:cNvSpPr txBox="1">
            <a:spLocks/>
          </p:cNvSpPr>
          <p:nvPr/>
        </p:nvSpPr>
        <p:spPr bwMode="gray">
          <a:xfrm>
            <a:off x="956798" y="143893"/>
            <a:ext cx="5389981" cy="665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damages analysis: March 2025</a:t>
            </a: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8446" y="6199516"/>
            <a:ext cx="1314090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On-time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571" y="6498565"/>
            <a:ext cx="1319592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Delivery Damage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797616" y="165101"/>
            <a:ext cx="2178110" cy="1102982"/>
            <a:chOff x="6305550" y="165100"/>
            <a:chExt cx="2670175" cy="1425869"/>
          </a:xfrm>
        </p:grpSpPr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55" name="Picture 54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50836" y="5708824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Overall performance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9925" y="5900169"/>
            <a:ext cx="94640" cy="10058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66FF66"/>
              </a:solidFill>
              <a:latin typeface="BMW Helvetica Light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64090" y="5900632"/>
            <a:ext cx="103300" cy="100609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FF0000"/>
              </a:solidFill>
              <a:latin typeface="BMW Helvetica Light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38154" y="2951033"/>
            <a:ext cx="755529" cy="1308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ZA" sz="700" b="1" dirty="0">
                <a:solidFill>
                  <a:schemeClr val="bg1"/>
                </a:solidFill>
                <a:latin typeface="BMW Helvetica Light" pitchFamily="2" charset="0"/>
              </a:rPr>
              <a:t>98.\%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826A07-46F6-87C2-BCF5-BD1C86407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034760"/>
              </p:ext>
            </p:extLst>
          </p:nvPr>
        </p:nvGraphicFramePr>
        <p:xfrm>
          <a:off x="171449" y="1289960"/>
          <a:ext cx="8715376" cy="4366040"/>
        </p:xfrm>
        <a:graphic>
          <a:graphicData uri="http://schemas.openxmlformats.org/drawingml/2006/table">
            <a:tbl>
              <a:tblPr/>
              <a:tblGrid>
                <a:gridCol w="1102537">
                  <a:extLst>
                    <a:ext uri="{9D8B030D-6E8A-4147-A177-3AD203B41FA5}">
                      <a16:colId xmlns:a16="http://schemas.microsoft.com/office/drawing/2014/main" val="2014312266"/>
                    </a:ext>
                  </a:extLst>
                </a:gridCol>
                <a:gridCol w="1102537">
                  <a:extLst>
                    <a:ext uri="{9D8B030D-6E8A-4147-A177-3AD203B41FA5}">
                      <a16:colId xmlns:a16="http://schemas.microsoft.com/office/drawing/2014/main" val="1062071521"/>
                    </a:ext>
                  </a:extLst>
                </a:gridCol>
                <a:gridCol w="839351">
                  <a:extLst>
                    <a:ext uri="{9D8B030D-6E8A-4147-A177-3AD203B41FA5}">
                      <a16:colId xmlns:a16="http://schemas.microsoft.com/office/drawing/2014/main" val="4131198654"/>
                    </a:ext>
                  </a:extLst>
                </a:gridCol>
                <a:gridCol w="874916">
                  <a:extLst>
                    <a:ext uri="{9D8B030D-6E8A-4147-A177-3AD203B41FA5}">
                      <a16:colId xmlns:a16="http://schemas.microsoft.com/office/drawing/2014/main" val="4186049852"/>
                    </a:ext>
                  </a:extLst>
                </a:gridCol>
                <a:gridCol w="789559">
                  <a:extLst>
                    <a:ext uri="{9D8B030D-6E8A-4147-A177-3AD203B41FA5}">
                      <a16:colId xmlns:a16="http://schemas.microsoft.com/office/drawing/2014/main" val="1220003031"/>
                    </a:ext>
                  </a:extLst>
                </a:gridCol>
                <a:gridCol w="1280365">
                  <a:extLst>
                    <a:ext uri="{9D8B030D-6E8A-4147-A177-3AD203B41FA5}">
                      <a16:colId xmlns:a16="http://schemas.microsoft.com/office/drawing/2014/main" val="352374408"/>
                    </a:ext>
                  </a:extLst>
                </a:gridCol>
                <a:gridCol w="704200">
                  <a:extLst>
                    <a:ext uri="{9D8B030D-6E8A-4147-A177-3AD203B41FA5}">
                      <a16:colId xmlns:a16="http://schemas.microsoft.com/office/drawing/2014/main" val="2957437769"/>
                    </a:ext>
                  </a:extLst>
                </a:gridCol>
                <a:gridCol w="782445">
                  <a:extLst>
                    <a:ext uri="{9D8B030D-6E8A-4147-A177-3AD203B41FA5}">
                      <a16:colId xmlns:a16="http://schemas.microsoft.com/office/drawing/2014/main" val="896725276"/>
                    </a:ext>
                  </a:extLst>
                </a:gridCol>
                <a:gridCol w="506812">
                  <a:extLst>
                    <a:ext uri="{9D8B030D-6E8A-4147-A177-3AD203B41FA5}">
                      <a16:colId xmlns:a16="http://schemas.microsoft.com/office/drawing/2014/main" val="2493146874"/>
                    </a:ext>
                  </a:extLst>
                </a:gridCol>
                <a:gridCol w="732654">
                  <a:extLst>
                    <a:ext uri="{9D8B030D-6E8A-4147-A177-3AD203B41FA5}">
                      <a16:colId xmlns:a16="http://schemas.microsoft.com/office/drawing/2014/main" val="327886920"/>
                    </a:ext>
                  </a:extLst>
                </a:gridCol>
              </a:tblGrid>
              <a:tr h="144162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 TRANSPORT MONTHLY DAMAGE REPORT - March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47782"/>
                  </a:ext>
                </a:extLst>
              </a:tr>
              <a:tr h="144162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Statistics (per region)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rowSpan="21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rowSpan="21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20626"/>
                  </a:ext>
                </a:extLst>
              </a:tr>
              <a:tr h="144162"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Province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Deliveries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% Damage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Deliveries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% Damage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331370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Gauteng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335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903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842661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 West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35042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Free State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529579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678113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Mpumalanga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807032"/>
                  </a:ext>
                </a:extLst>
              </a:tr>
              <a:tr h="28832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Northern Province </a:t>
                      </a:r>
                      <a:b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(Limpopo)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600654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Namibia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393360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Swaziland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759806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KwazuluNatal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519425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Western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665330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Eastern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148778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Botswana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466624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Mozambique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813254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Zimbabwe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48574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VDC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694386"/>
                  </a:ext>
                </a:extLst>
              </a:tr>
              <a:tr h="1441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341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949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0.21%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232523"/>
                  </a:ext>
                </a:extLst>
              </a:tr>
              <a:tr h="144162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756392"/>
                  </a:ext>
                </a:extLst>
              </a:tr>
              <a:tr h="14416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* System recon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65049"/>
                  </a:ext>
                </a:extLst>
              </a:tr>
              <a:tr h="137296"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69144"/>
                  </a:ext>
                </a:extLst>
              </a:tr>
              <a:tr h="116702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630386"/>
                  </a:ext>
                </a:extLst>
              </a:tr>
              <a:tr h="144162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 In-transit damage claim detail: March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284889"/>
                  </a:ext>
                </a:extLst>
              </a:tr>
              <a:tr h="288322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CHASSIS 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DETAIL AND REASON FOR DAMAGE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PAYABLE 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AMOUNT                 (excl. VAT)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Region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Load nr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Driver negligence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267947"/>
                  </a:ext>
                </a:extLst>
              </a:tr>
              <a:tr h="137296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998840"/>
                  </a:ext>
                </a:extLst>
              </a:tr>
              <a:tr h="137296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1432"/>
                  </a:ext>
                </a:extLst>
              </a:tr>
              <a:tr h="116702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5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523635"/>
                  </a:ext>
                </a:extLst>
              </a:tr>
              <a:tr h="116702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effectLst/>
                          <a:latin typeface="BMWType V2 Regular" pitchFamily="2" charset="0"/>
                        </a:rPr>
                        <a:t>R 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781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50929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Title 3"/>
          <p:cNvSpPr txBox="1">
            <a:spLocks/>
          </p:cNvSpPr>
          <p:nvPr/>
        </p:nvSpPr>
        <p:spPr bwMode="gray">
          <a:xfrm>
            <a:off x="956798" y="143893"/>
            <a:ext cx="5389981" cy="665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damages analysis: April 2025</a:t>
            </a: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8446" y="6199516"/>
            <a:ext cx="1314090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On-time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571" y="6498565"/>
            <a:ext cx="1319592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Delivery Damage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797616" y="165101"/>
            <a:ext cx="2178110" cy="1102982"/>
            <a:chOff x="6305550" y="165100"/>
            <a:chExt cx="2670175" cy="1425869"/>
          </a:xfrm>
        </p:grpSpPr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55" name="Picture 54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50836" y="5708824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Overall performance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9925" y="5900169"/>
            <a:ext cx="94640" cy="10058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66FF66"/>
              </a:solidFill>
              <a:latin typeface="BMW Helvetica Light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64090" y="5900632"/>
            <a:ext cx="103300" cy="100609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FF0000"/>
              </a:solidFill>
              <a:latin typeface="BMW Helvetica Light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38154" y="2951033"/>
            <a:ext cx="755529" cy="1308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ZA" sz="700" b="1" dirty="0">
                <a:solidFill>
                  <a:schemeClr val="bg1"/>
                </a:solidFill>
                <a:latin typeface="BMW Helvetica Light" pitchFamily="2" charset="0"/>
              </a:rPr>
              <a:t>98.\%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64F346-5E2B-BC28-D886-B183F9F95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913627"/>
              </p:ext>
            </p:extLst>
          </p:nvPr>
        </p:nvGraphicFramePr>
        <p:xfrm>
          <a:off x="190499" y="1372011"/>
          <a:ext cx="8486776" cy="3947184"/>
        </p:xfrm>
        <a:graphic>
          <a:graphicData uri="http://schemas.openxmlformats.org/drawingml/2006/table">
            <a:tbl>
              <a:tblPr/>
              <a:tblGrid>
                <a:gridCol w="1070738">
                  <a:extLst>
                    <a:ext uri="{9D8B030D-6E8A-4147-A177-3AD203B41FA5}">
                      <a16:colId xmlns:a16="http://schemas.microsoft.com/office/drawing/2014/main" val="1141626965"/>
                    </a:ext>
                  </a:extLst>
                </a:gridCol>
                <a:gridCol w="1070738">
                  <a:extLst>
                    <a:ext uri="{9D8B030D-6E8A-4147-A177-3AD203B41FA5}">
                      <a16:colId xmlns:a16="http://schemas.microsoft.com/office/drawing/2014/main" val="2529735443"/>
                    </a:ext>
                  </a:extLst>
                </a:gridCol>
                <a:gridCol w="818205">
                  <a:extLst>
                    <a:ext uri="{9D8B030D-6E8A-4147-A177-3AD203B41FA5}">
                      <a16:colId xmlns:a16="http://schemas.microsoft.com/office/drawing/2014/main" val="1451516035"/>
                    </a:ext>
                  </a:extLst>
                </a:gridCol>
                <a:gridCol w="855244">
                  <a:extLst>
                    <a:ext uri="{9D8B030D-6E8A-4147-A177-3AD203B41FA5}">
                      <a16:colId xmlns:a16="http://schemas.microsoft.com/office/drawing/2014/main" val="1255872862"/>
                    </a:ext>
                  </a:extLst>
                </a:gridCol>
                <a:gridCol w="767699">
                  <a:extLst>
                    <a:ext uri="{9D8B030D-6E8A-4147-A177-3AD203B41FA5}">
                      <a16:colId xmlns:a16="http://schemas.microsoft.com/office/drawing/2014/main" val="1493648333"/>
                    </a:ext>
                  </a:extLst>
                </a:gridCol>
                <a:gridCol w="1247510">
                  <a:extLst>
                    <a:ext uri="{9D8B030D-6E8A-4147-A177-3AD203B41FA5}">
                      <a16:colId xmlns:a16="http://schemas.microsoft.com/office/drawing/2014/main" val="1818139893"/>
                    </a:ext>
                  </a:extLst>
                </a:gridCol>
                <a:gridCol w="686889">
                  <a:extLst>
                    <a:ext uri="{9D8B030D-6E8A-4147-A177-3AD203B41FA5}">
                      <a16:colId xmlns:a16="http://schemas.microsoft.com/office/drawing/2014/main" val="1827383870"/>
                    </a:ext>
                  </a:extLst>
                </a:gridCol>
                <a:gridCol w="760964">
                  <a:extLst>
                    <a:ext uri="{9D8B030D-6E8A-4147-A177-3AD203B41FA5}">
                      <a16:colId xmlns:a16="http://schemas.microsoft.com/office/drawing/2014/main" val="2931842443"/>
                    </a:ext>
                  </a:extLst>
                </a:gridCol>
                <a:gridCol w="494964">
                  <a:extLst>
                    <a:ext uri="{9D8B030D-6E8A-4147-A177-3AD203B41FA5}">
                      <a16:colId xmlns:a16="http://schemas.microsoft.com/office/drawing/2014/main" val="3548419715"/>
                    </a:ext>
                  </a:extLst>
                </a:gridCol>
                <a:gridCol w="713825">
                  <a:extLst>
                    <a:ext uri="{9D8B030D-6E8A-4147-A177-3AD203B41FA5}">
                      <a16:colId xmlns:a16="http://schemas.microsoft.com/office/drawing/2014/main" val="2585149763"/>
                    </a:ext>
                  </a:extLst>
                </a:gridCol>
              </a:tblGrid>
              <a:tr h="129925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 TRANSPORT MONTHLY DAMAGE REPORT - April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250964"/>
                  </a:ext>
                </a:extLst>
              </a:tr>
              <a:tr h="129925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Statistics (per region)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rowSpan="21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rowSpan="21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545221"/>
                  </a:ext>
                </a:extLst>
              </a:tr>
              <a:tr h="131173"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Province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Deliveries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% Damage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Deliveries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% Damage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169150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Gauteng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1183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091468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 West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320761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Free State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113624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414518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Mpumalanga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014053"/>
                  </a:ext>
                </a:extLst>
              </a:tr>
              <a:tr h="259848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Northern Province </a:t>
                      </a:r>
                      <a:b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(Limpopo)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912517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Namibia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44903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Swaziland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118821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KwazuluNatal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226374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Western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603245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Eastern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167385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Botswana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54420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Mozambique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561482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Zimbabwe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097496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VDC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343042"/>
                  </a:ext>
                </a:extLst>
              </a:tr>
              <a:tr h="12992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286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1235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36574"/>
                  </a:ext>
                </a:extLst>
              </a:tr>
              <a:tr h="12992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637891"/>
                  </a:ext>
                </a:extLst>
              </a:tr>
              <a:tr h="12992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* System recon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279633"/>
                  </a:ext>
                </a:extLst>
              </a:tr>
              <a:tr h="125654"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140190"/>
                  </a:ext>
                </a:extLst>
              </a:tr>
              <a:tr h="109935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84814"/>
                  </a:ext>
                </a:extLst>
              </a:tr>
              <a:tr h="129925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 In-transit damage claim detail: April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050651"/>
                  </a:ext>
                </a:extLst>
              </a:tr>
              <a:tr h="262346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CHASSIS 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DETAIL AND REASON FOR DAMAGE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PAYABLE 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AMOUNT                 (excl. VAT)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Region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Load nr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Driver negligence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233976"/>
                  </a:ext>
                </a:extLst>
              </a:tr>
              <a:tr h="119929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83936"/>
                  </a:ext>
                </a:extLst>
              </a:tr>
              <a:tr h="119929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315442"/>
                  </a:ext>
                </a:extLst>
              </a:tr>
              <a:tr h="109935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4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747478"/>
                  </a:ext>
                </a:extLst>
              </a:tr>
              <a:tr h="109935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effectLst/>
                          <a:latin typeface="BMWType V2 Regular" pitchFamily="2" charset="0"/>
                        </a:rPr>
                        <a:t>R 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568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18152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Title 3"/>
          <p:cNvSpPr txBox="1">
            <a:spLocks/>
          </p:cNvSpPr>
          <p:nvPr/>
        </p:nvSpPr>
        <p:spPr bwMode="gray">
          <a:xfrm>
            <a:off x="956798" y="143893"/>
            <a:ext cx="5389981" cy="665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damages analysis: May 2025</a:t>
            </a: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8446" y="6199516"/>
            <a:ext cx="1314090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On-time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571" y="6498565"/>
            <a:ext cx="1319592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Delivery Damage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797616" y="165101"/>
            <a:ext cx="2178110" cy="1102982"/>
            <a:chOff x="6305550" y="165100"/>
            <a:chExt cx="2670175" cy="1425869"/>
          </a:xfrm>
        </p:grpSpPr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55" name="Picture 54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50836" y="5708824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Overall performance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9925" y="5900169"/>
            <a:ext cx="94640" cy="10058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66FF66"/>
              </a:solidFill>
              <a:latin typeface="BMW Helvetica Light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64090" y="5900632"/>
            <a:ext cx="103300" cy="100609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FF0000"/>
              </a:solidFill>
              <a:latin typeface="BMW Helvetica Light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38154" y="2951033"/>
            <a:ext cx="755529" cy="1308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ZA" sz="700" b="1" dirty="0">
                <a:solidFill>
                  <a:schemeClr val="bg1"/>
                </a:solidFill>
                <a:latin typeface="BMW Helvetica Light" pitchFamily="2" charset="0"/>
              </a:rPr>
              <a:t>98.\%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33363F-B139-7C6D-1FFF-0FC463A27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217339"/>
              </p:ext>
            </p:extLst>
          </p:nvPr>
        </p:nvGraphicFramePr>
        <p:xfrm>
          <a:off x="258232" y="1320660"/>
          <a:ext cx="8470902" cy="4388166"/>
        </p:xfrm>
        <a:graphic>
          <a:graphicData uri="http://schemas.openxmlformats.org/drawingml/2006/table">
            <a:tbl>
              <a:tblPr/>
              <a:tblGrid>
                <a:gridCol w="1071610">
                  <a:extLst>
                    <a:ext uri="{9D8B030D-6E8A-4147-A177-3AD203B41FA5}">
                      <a16:colId xmlns:a16="http://schemas.microsoft.com/office/drawing/2014/main" val="2567261388"/>
                    </a:ext>
                  </a:extLst>
                </a:gridCol>
                <a:gridCol w="1071610">
                  <a:extLst>
                    <a:ext uri="{9D8B030D-6E8A-4147-A177-3AD203B41FA5}">
                      <a16:colId xmlns:a16="http://schemas.microsoft.com/office/drawing/2014/main" val="2013674189"/>
                    </a:ext>
                  </a:extLst>
                </a:gridCol>
                <a:gridCol w="815806">
                  <a:extLst>
                    <a:ext uri="{9D8B030D-6E8A-4147-A177-3AD203B41FA5}">
                      <a16:colId xmlns:a16="http://schemas.microsoft.com/office/drawing/2014/main" val="1871634100"/>
                    </a:ext>
                  </a:extLst>
                </a:gridCol>
                <a:gridCol w="850374">
                  <a:extLst>
                    <a:ext uri="{9D8B030D-6E8A-4147-A177-3AD203B41FA5}">
                      <a16:colId xmlns:a16="http://schemas.microsoft.com/office/drawing/2014/main" val="2198599624"/>
                    </a:ext>
                  </a:extLst>
                </a:gridCol>
                <a:gridCol w="767411">
                  <a:extLst>
                    <a:ext uri="{9D8B030D-6E8A-4147-A177-3AD203B41FA5}">
                      <a16:colId xmlns:a16="http://schemas.microsoft.com/office/drawing/2014/main" val="4265264146"/>
                    </a:ext>
                  </a:extLst>
                </a:gridCol>
                <a:gridCol w="1244450">
                  <a:extLst>
                    <a:ext uri="{9D8B030D-6E8A-4147-A177-3AD203B41FA5}">
                      <a16:colId xmlns:a16="http://schemas.microsoft.com/office/drawing/2014/main" val="4181305612"/>
                    </a:ext>
                  </a:extLst>
                </a:gridCol>
                <a:gridCol w="684447">
                  <a:extLst>
                    <a:ext uri="{9D8B030D-6E8A-4147-A177-3AD203B41FA5}">
                      <a16:colId xmlns:a16="http://schemas.microsoft.com/office/drawing/2014/main" val="3006731714"/>
                    </a:ext>
                  </a:extLst>
                </a:gridCol>
                <a:gridCol w="760497">
                  <a:extLst>
                    <a:ext uri="{9D8B030D-6E8A-4147-A177-3AD203B41FA5}">
                      <a16:colId xmlns:a16="http://schemas.microsoft.com/office/drawing/2014/main" val="3302093197"/>
                    </a:ext>
                  </a:extLst>
                </a:gridCol>
                <a:gridCol w="492595">
                  <a:extLst>
                    <a:ext uri="{9D8B030D-6E8A-4147-A177-3AD203B41FA5}">
                      <a16:colId xmlns:a16="http://schemas.microsoft.com/office/drawing/2014/main" val="1490992071"/>
                    </a:ext>
                  </a:extLst>
                </a:gridCol>
                <a:gridCol w="712102">
                  <a:extLst>
                    <a:ext uri="{9D8B030D-6E8A-4147-A177-3AD203B41FA5}">
                      <a16:colId xmlns:a16="http://schemas.microsoft.com/office/drawing/2014/main" val="3156884041"/>
                    </a:ext>
                  </a:extLst>
                </a:gridCol>
              </a:tblGrid>
              <a:tr h="140569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 TRANSPORT MONTHLY DAMAGE REPORT - May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367753"/>
                  </a:ext>
                </a:extLst>
              </a:tr>
              <a:tr h="140569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Statistics (per region)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rowSpan="21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rowSpan="21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771603"/>
                  </a:ext>
                </a:extLst>
              </a:tr>
              <a:tr h="140569"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Province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Deliveries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% Damage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Damage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Deliveries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% Damage YTD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40046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Gauteng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337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1520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086096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 West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479443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Free State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47792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805971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Mpumalanga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567707"/>
                  </a:ext>
                </a:extLst>
              </a:tr>
              <a:tr h="281136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Northern Province </a:t>
                      </a:r>
                      <a:b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(Limpopo)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329858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Namibia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8237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Swaziland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2564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KwazuluNatal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72358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Western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867951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Eastern Cape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280220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Botswana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249611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Mozambique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913122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Zimbabwe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#DIV/0!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93604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VDC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solidFill>
                            <a:srgbClr val="366092"/>
                          </a:solidFill>
                          <a:effectLst/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852751"/>
                  </a:ext>
                </a:extLst>
              </a:tr>
              <a:tr h="140569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346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1581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373212"/>
                  </a:ext>
                </a:extLst>
              </a:tr>
              <a:tr h="140569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010535"/>
                  </a:ext>
                </a:extLst>
              </a:tr>
              <a:tr h="140569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* System recon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900291"/>
                  </a:ext>
                </a:extLst>
              </a:tr>
              <a:tr h="133874"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464403"/>
                  </a:ext>
                </a:extLst>
              </a:tr>
              <a:tr h="113793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87747"/>
                  </a:ext>
                </a:extLst>
              </a:tr>
              <a:tr h="140569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Makatu In-transit damage claim detail: May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296477"/>
                  </a:ext>
                </a:extLst>
              </a:tr>
              <a:tr h="281136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CHASSIS 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DETAIL AND REASON FOR DAMAGE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PAYABLE 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AMOUNT                 (excl. VAT)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Region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Load nr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1" i="0" u="none" strike="noStrike">
                          <a:effectLst/>
                          <a:latin typeface="Arial" panose="020B0604020202020204" pitchFamily="34" charset="0"/>
                        </a:rPr>
                        <a:t>Driver negligence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86005"/>
                  </a:ext>
                </a:extLst>
              </a:tr>
              <a:tr h="133874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367973"/>
                  </a:ext>
                </a:extLst>
              </a:tr>
              <a:tr h="133874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7874"/>
                  </a:ext>
                </a:extLst>
              </a:tr>
              <a:tr h="113793"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5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723340"/>
                  </a:ext>
                </a:extLst>
              </a:tr>
              <a:tr h="113793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600" b="1" i="0" u="none" strike="noStrike">
                          <a:effectLst/>
                          <a:latin typeface="BMWType V2 Regular" pitchFamily="2" charset="0"/>
                        </a:rPr>
                        <a:t>R 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ZA" sz="6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566818"/>
                  </a:ext>
                </a:extLst>
              </a:tr>
              <a:tr h="130944">
                <a:tc gridSpan="9">
                  <a:txBody>
                    <a:bodyPr/>
                    <a:lstStyle/>
                    <a:p>
                      <a:pPr algn="l" fontAlgn="t"/>
                      <a:r>
                        <a:rPr lang="en-ZA" sz="700" b="0" i="0" u="none" strike="noStrike">
                          <a:effectLst/>
                          <a:latin typeface="Arial" panose="020B0604020202020204" pitchFamily="34" charset="0"/>
                        </a:rPr>
                        <a:t>4 Vehicles late due to Hydraulik leak on carrier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7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398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52976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Title 3"/>
          <p:cNvSpPr txBox="1">
            <a:spLocks/>
          </p:cNvSpPr>
          <p:nvPr/>
        </p:nvSpPr>
        <p:spPr bwMode="gray">
          <a:xfrm>
            <a:off x="956798" y="143893"/>
            <a:ext cx="5389981" cy="665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damages analysis: June 2025</a:t>
            </a: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8446" y="6199516"/>
            <a:ext cx="1314090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On-time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571" y="6498565"/>
            <a:ext cx="1319592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Delivery Damage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797616" y="165101"/>
            <a:ext cx="2178110" cy="1102982"/>
            <a:chOff x="6305550" y="165100"/>
            <a:chExt cx="2670175" cy="1425869"/>
          </a:xfrm>
        </p:grpSpPr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55" name="Picture 54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50836" y="5708824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Overall performance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9925" y="5900169"/>
            <a:ext cx="94640" cy="10058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66FF66"/>
              </a:solidFill>
              <a:latin typeface="BMW Helvetica Light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64090" y="5900632"/>
            <a:ext cx="103300" cy="100609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FF0000"/>
              </a:solidFill>
              <a:latin typeface="BMW Helvetica Light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38154" y="2951033"/>
            <a:ext cx="755529" cy="1308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ZA" sz="700" b="1" dirty="0">
                <a:solidFill>
                  <a:schemeClr val="bg1"/>
                </a:solidFill>
                <a:latin typeface="BMW Helvetica Light" pitchFamily="2" charset="0"/>
              </a:rPr>
              <a:t>98.\%</a:t>
            </a:r>
          </a:p>
        </p:txBody>
      </p:sp>
    </p:spTree>
    <p:extLst>
      <p:ext uri="{BB962C8B-B14F-4D97-AF65-F5344CB8AC3E}">
        <p14:creationId xmlns:p14="http://schemas.microsoft.com/office/powerpoint/2010/main" val="170590834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Title 3"/>
          <p:cNvSpPr txBox="1">
            <a:spLocks/>
          </p:cNvSpPr>
          <p:nvPr/>
        </p:nvSpPr>
        <p:spPr bwMode="gray">
          <a:xfrm>
            <a:off x="956798" y="143893"/>
            <a:ext cx="5389981" cy="665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damages analysis: July 2025</a:t>
            </a: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8446" y="6199516"/>
            <a:ext cx="1314090" cy="246221"/>
          </a:xfrm>
          <a:prstGeom prst="rect">
            <a:avLst/>
          </a:prstGeom>
          <a:solidFill>
            <a:srgbClr val="FFFF00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latin typeface="BMW Helvetica Light" pitchFamily="2" charset="0"/>
              </a:rPr>
              <a:t>On-time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571" y="6498565"/>
            <a:ext cx="1319592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Delivery Damage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797616" y="165101"/>
            <a:ext cx="2008454" cy="1036903"/>
            <a:chOff x="6305550" y="165100"/>
            <a:chExt cx="2670175" cy="1425869"/>
          </a:xfrm>
        </p:grpSpPr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55" name="Picture 54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50836" y="5708824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Overall performance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9925" y="5900169"/>
            <a:ext cx="94640" cy="100581"/>
          </a:xfrm>
          <a:prstGeom prst="rect">
            <a:avLst/>
          </a:prstGeom>
          <a:solidFill>
            <a:srgbClr val="FFFF00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66FF66"/>
              </a:solidFill>
              <a:latin typeface="BMW Helvetica Light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64090" y="5900632"/>
            <a:ext cx="103300" cy="100609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FF0000"/>
              </a:solidFill>
              <a:latin typeface="BMW Helvetica Light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38154" y="2951033"/>
            <a:ext cx="755529" cy="1308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ZA" sz="700" b="1" dirty="0">
                <a:solidFill>
                  <a:schemeClr val="bg1"/>
                </a:solidFill>
                <a:latin typeface="BMW Helvetica Light" pitchFamily="2" charset="0"/>
              </a:rPr>
              <a:t>98.\%</a:t>
            </a:r>
          </a:p>
        </p:txBody>
      </p:sp>
    </p:spTree>
    <p:extLst>
      <p:ext uri="{BB962C8B-B14F-4D97-AF65-F5344CB8AC3E}">
        <p14:creationId xmlns:p14="http://schemas.microsoft.com/office/powerpoint/2010/main" val="318726566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Title 3"/>
          <p:cNvSpPr txBox="1">
            <a:spLocks/>
          </p:cNvSpPr>
          <p:nvPr/>
        </p:nvSpPr>
        <p:spPr bwMode="gray">
          <a:xfrm>
            <a:off x="956798" y="143893"/>
            <a:ext cx="5389981" cy="665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damages analysis: August 2025</a:t>
            </a: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8446" y="6199516"/>
            <a:ext cx="1314090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On-time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571" y="6498565"/>
            <a:ext cx="1319592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Delivery Damage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797616" y="165101"/>
            <a:ext cx="2178110" cy="1102982"/>
            <a:chOff x="6305550" y="165100"/>
            <a:chExt cx="2670175" cy="1425869"/>
          </a:xfrm>
        </p:grpSpPr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55" name="Picture 54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50836" y="5708824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Overall performance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9925" y="5900169"/>
            <a:ext cx="94640" cy="10058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66FF66"/>
              </a:solidFill>
              <a:latin typeface="BMW Helvetica Light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64090" y="5900632"/>
            <a:ext cx="103300" cy="100609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FF0000"/>
              </a:solidFill>
              <a:latin typeface="BMW Helvetica Light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38154" y="2951033"/>
            <a:ext cx="755529" cy="1308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ZA" sz="700" b="1" dirty="0">
                <a:solidFill>
                  <a:schemeClr val="bg1"/>
                </a:solidFill>
                <a:latin typeface="BMW Helvetica Light" pitchFamily="2" charset="0"/>
              </a:rPr>
              <a:t>98.\%</a:t>
            </a:r>
          </a:p>
        </p:txBody>
      </p:sp>
    </p:spTree>
    <p:extLst>
      <p:ext uri="{BB962C8B-B14F-4D97-AF65-F5344CB8AC3E}">
        <p14:creationId xmlns:p14="http://schemas.microsoft.com/office/powerpoint/2010/main" val="348045214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Title 3"/>
          <p:cNvSpPr txBox="1">
            <a:spLocks/>
          </p:cNvSpPr>
          <p:nvPr/>
        </p:nvSpPr>
        <p:spPr bwMode="gray">
          <a:xfrm>
            <a:off x="956798" y="143893"/>
            <a:ext cx="5389981" cy="665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damages analysis: September 2025</a:t>
            </a: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8446" y="6199516"/>
            <a:ext cx="1314090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On-time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571" y="6498565"/>
            <a:ext cx="1319592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Delivery Damage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797616" y="165101"/>
            <a:ext cx="2178110" cy="1102982"/>
            <a:chOff x="6305550" y="165100"/>
            <a:chExt cx="2670175" cy="1425869"/>
          </a:xfrm>
        </p:grpSpPr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55" name="Picture 54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50836" y="5708824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Overall performance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9925" y="5900169"/>
            <a:ext cx="94640" cy="10058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66FF66"/>
              </a:solidFill>
              <a:latin typeface="BMW Helvetica Light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64090" y="5900632"/>
            <a:ext cx="103300" cy="100609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FF0000"/>
              </a:solidFill>
              <a:latin typeface="BMW Helvetica Light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38154" y="2951033"/>
            <a:ext cx="755529" cy="1308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ZA" sz="700" b="1" dirty="0">
                <a:solidFill>
                  <a:schemeClr val="bg1"/>
                </a:solidFill>
                <a:latin typeface="BMW Helvetica Light" pitchFamily="2" charset="0"/>
              </a:rPr>
              <a:t>98.\%</a:t>
            </a:r>
          </a:p>
        </p:txBody>
      </p:sp>
    </p:spTree>
    <p:extLst>
      <p:ext uri="{BB962C8B-B14F-4D97-AF65-F5344CB8AC3E}">
        <p14:creationId xmlns:p14="http://schemas.microsoft.com/office/powerpoint/2010/main" val="389622722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Title 3"/>
          <p:cNvSpPr txBox="1">
            <a:spLocks/>
          </p:cNvSpPr>
          <p:nvPr/>
        </p:nvSpPr>
        <p:spPr bwMode="gray">
          <a:xfrm>
            <a:off x="956798" y="143893"/>
            <a:ext cx="5389981" cy="665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damages analysis: October 2025</a:t>
            </a: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8446" y="6199516"/>
            <a:ext cx="1314090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On-time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571" y="6498565"/>
            <a:ext cx="1319592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Delivery Damage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797616" y="165101"/>
            <a:ext cx="2178110" cy="1102982"/>
            <a:chOff x="6305550" y="165100"/>
            <a:chExt cx="2670175" cy="1425869"/>
          </a:xfrm>
        </p:grpSpPr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55" name="Picture 54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50836" y="5708824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Overall performance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9925" y="5900169"/>
            <a:ext cx="94640" cy="10058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66FF66"/>
              </a:solidFill>
              <a:latin typeface="BMW Helvetica Light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64090" y="5900632"/>
            <a:ext cx="103300" cy="100609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FF0000"/>
              </a:solidFill>
              <a:latin typeface="BMW Helvetica Light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38154" y="2951033"/>
            <a:ext cx="755529" cy="1308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ZA" sz="700" b="1" dirty="0">
                <a:solidFill>
                  <a:schemeClr val="bg1"/>
                </a:solidFill>
                <a:latin typeface="BMW Helvetica Light" pitchFamily="2" charset="0"/>
              </a:rPr>
              <a:t>98.\%</a:t>
            </a:r>
          </a:p>
        </p:txBody>
      </p:sp>
    </p:spTree>
    <p:extLst>
      <p:ext uri="{BB962C8B-B14F-4D97-AF65-F5344CB8AC3E}">
        <p14:creationId xmlns:p14="http://schemas.microsoft.com/office/powerpoint/2010/main" val="242236207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Title 3"/>
          <p:cNvSpPr txBox="1">
            <a:spLocks/>
          </p:cNvSpPr>
          <p:nvPr/>
        </p:nvSpPr>
        <p:spPr bwMode="gray">
          <a:xfrm>
            <a:off x="956798" y="143893"/>
            <a:ext cx="5389981" cy="665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damages analysis: November 2025</a:t>
            </a:r>
          </a:p>
          <a:p>
            <a:pPr lvl="0" defTabSz="896938">
              <a:lnSpc>
                <a:spcPct val="95000"/>
              </a:lnSpc>
              <a:defRPr/>
            </a:pP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8446" y="6199516"/>
            <a:ext cx="1314090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On-time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571" y="6498565"/>
            <a:ext cx="1319592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Delivery Damage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797616" y="165101"/>
            <a:ext cx="2178110" cy="1102982"/>
            <a:chOff x="6305550" y="165100"/>
            <a:chExt cx="2670175" cy="1425869"/>
          </a:xfrm>
        </p:grpSpPr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55" name="Picture 54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50836" y="5708824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Overall performance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9925" y="5900169"/>
            <a:ext cx="94640" cy="10058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66FF66"/>
              </a:solidFill>
              <a:latin typeface="BMW Helvetica Light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64090" y="5900632"/>
            <a:ext cx="103300" cy="100609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FF0000"/>
              </a:solidFill>
              <a:latin typeface="BMW Helvetica Light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38154" y="2951033"/>
            <a:ext cx="755529" cy="1308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ZA" sz="700" b="1" dirty="0">
                <a:solidFill>
                  <a:schemeClr val="bg1"/>
                </a:solidFill>
                <a:latin typeface="BMW Helvetica Light" pitchFamily="2" charset="0"/>
              </a:rPr>
              <a:t>98.\%</a:t>
            </a:r>
          </a:p>
        </p:txBody>
      </p:sp>
    </p:spTree>
    <p:extLst>
      <p:ext uri="{BB962C8B-B14F-4D97-AF65-F5344CB8AC3E}">
        <p14:creationId xmlns:p14="http://schemas.microsoft.com/office/powerpoint/2010/main" val="144415441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9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4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3429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4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4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476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7811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143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5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5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53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2857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1590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5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58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905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60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8475" y="3495675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62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17145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65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538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66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67" descr="sh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00" y="762000"/>
            <a:ext cx="14287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Title 3"/>
          <p:cNvSpPr txBox="1">
            <a:spLocks/>
          </p:cNvSpPr>
          <p:nvPr/>
        </p:nvSpPr>
        <p:spPr bwMode="gray">
          <a:xfrm>
            <a:off x="956798" y="143893"/>
            <a:ext cx="5389981" cy="665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896938">
              <a:lnSpc>
                <a:spcPct val="95000"/>
              </a:lnSpc>
              <a:defRPr/>
            </a:pPr>
            <a: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Carrier Performance 2025</a:t>
            </a:r>
            <a:br>
              <a:rPr kumimoji="0" lang="en-ZA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ZA" sz="20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Makatu</a:t>
            </a:r>
            <a:r>
              <a:rPr lang="en-ZA" sz="2000" b="1" kern="0" dirty="0">
                <a:solidFill>
                  <a:schemeClr val="bg2"/>
                </a:solidFill>
              </a:rPr>
              <a:t> damages analysis: December 2025</a:t>
            </a:r>
            <a:endParaRPr kumimoji="0" lang="en-ZA" sz="20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28446" y="6199516"/>
            <a:ext cx="1314090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On-time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571" y="6498565"/>
            <a:ext cx="1319592" cy="24622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r>
              <a:rPr lang="en-ZA" sz="1000" b="1" dirty="0">
                <a:solidFill>
                  <a:schemeClr val="bg1"/>
                </a:solidFill>
                <a:latin typeface="BMW Helvetica Light" pitchFamily="2" charset="0"/>
              </a:rPr>
              <a:t>Delivery Damage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797616" y="165101"/>
            <a:ext cx="2178110" cy="1102982"/>
            <a:chOff x="6305550" y="165100"/>
            <a:chExt cx="2670175" cy="1425869"/>
          </a:xfrm>
        </p:grpSpPr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6305550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661275" y="165100"/>
              <a:ext cx="1314450" cy="1312863"/>
            </a:xfrm>
            <a:prstGeom prst="rect">
              <a:avLst/>
            </a:prstGeom>
            <a:solidFill>
              <a:srgbClr val="E6E6E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ZA"/>
            </a:p>
          </p:txBody>
        </p:sp>
        <p:pic>
          <p:nvPicPr>
            <p:cNvPr id="55" name="Picture 54" descr="bmw3md1p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40663" y="346075"/>
              <a:ext cx="973137" cy="968375"/>
            </a:xfrm>
            <a:prstGeom prst="rect">
              <a:avLst/>
            </a:prstGeom>
            <a:noFill/>
          </p:spPr>
        </p:pic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6411914" y="306387"/>
              <a:ext cx="1162050" cy="12845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777875"/>
              <a:r>
                <a:rPr lang="en-US" sz="900" b="1" dirty="0">
                  <a:latin typeface="BMWTypeLight" pitchFamily="34" charset="0"/>
                </a:rPr>
                <a:t>Vehicle Distribution Centre</a:t>
              </a:r>
              <a:endParaRPr lang="de-CH" sz="900" b="1" dirty="0"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de-CH" sz="900" b="1" dirty="0">
                <a:solidFill>
                  <a:srgbClr val="999999"/>
                </a:solidFill>
                <a:latin typeface="BMWTypeLight" pitchFamily="34" charset="0"/>
              </a:endParaRPr>
            </a:p>
            <a:p>
              <a:pPr defTabSz="777875"/>
              <a:endParaRPr lang="en-US" sz="900" b="1" dirty="0">
                <a:solidFill>
                  <a:srgbClr val="999999"/>
                </a:solidFill>
                <a:latin typeface="BMWTypeLight" pitchFamily="34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50836" y="5708824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Overall performance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9925" y="5900169"/>
            <a:ext cx="94640" cy="100581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66FF66"/>
              </a:solidFill>
              <a:latin typeface="BMW Helvetica Light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64090" y="5900632"/>
            <a:ext cx="103300" cy="100609"/>
          </a:xfrm>
          <a:prstGeom prst="rect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txBody>
          <a:bodyPr wrap="square" rtlCol="0">
            <a:noAutofit/>
          </a:bodyPr>
          <a:lstStyle/>
          <a:p>
            <a:endParaRPr lang="en-ZA" sz="1000" b="1" dirty="0">
              <a:solidFill>
                <a:srgbClr val="FF0000"/>
              </a:solidFill>
              <a:latin typeface="BMW Helvetica Light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38154" y="2951033"/>
            <a:ext cx="755529" cy="1308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ZA" sz="700" b="1" dirty="0">
                <a:solidFill>
                  <a:schemeClr val="bg1"/>
                </a:solidFill>
                <a:latin typeface="BMW Helvetica Light" pitchFamily="2" charset="0"/>
              </a:rPr>
              <a:t>98.\%</a:t>
            </a:r>
          </a:p>
        </p:txBody>
      </p:sp>
    </p:spTree>
    <p:extLst>
      <p:ext uri="{BB962C8B-B14F-4D97-AF65-F5344CB8AC3E}">
        <p14:creationId xmlns:p14="http://schemas.microsoft.com/office/powerpoint/2010/main" val="329698971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ZA-T-1">
  <a:themeElements>
    <a:clrScheme name="ZA-T-1 1">
      <a:dk1>
        <a:srgbClr val="000000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666666"/>
      </a:accent2>
      <a:accent3>
        <a:srgbClr val="FFFFFF"/>
      </a:accent3>
      <a:accent4>
        <a:srgbClr val="000000"/>
      </a:accent4>
      <a:accent5>
        <a:srgbClr val="ADADAD"/>
      </a:accent5>
      <a:accent6>
        <a:srgbClr val="5C5C5C"/>
      </a:accent6>
      <a:hlink>
        <a:srgbClr val="969696"/>
      </a:hlink>
      <a:folHlink>
        <a:srgbClr val="EAEAEA"/>
      </a:folHlink>
    </a:clrScheme>
    <a:fontScheme name="ZA-T-1">
      <a:majorFont>
        <a:latin typeface="BMWTypeRegular"/>
        <a:ea typeface=""/>
        <a:cs typeface=""/>
      </a:majorFont>
      <a:minorFont>
        <a:latin typeface="BMWType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MWTypeRegular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MWTypeRegular" pitchFamily="34" charset="0"/>
          </a:defRPr>
        </a:defPPr>
      </a:lstStyle>
    </a:lnDef>
  </a:objectDefaults>
  <a:extraClrSchemeLst>
    <a:extraClrScheme>
      <a:clrScheme name="ZA-T-1 1">
        <a:dk1>
          <a:srgbClr val="000000"/>
        </a:dk1>
        <a:lt1>
          <a:srgbClr val="FFFFFF"/>
        </a:lt1>
        <a:dk2>
          <a:srgbClr val="000000"/>
        </a:dk2>
        <a:lt2>
          <a:srgbClr val="7F7F7F"/>
        </a:lt2>
        <a:accent1>
          <a:srgbClr val="333333"/>
        </a:accent1>
        <a:accent2>
          <a:srgbClr val="666666"/>
        </a:accent2>
        <a:accent3>
          <a:srgbClr val="FFFFFF"/>
        </a:accent3>
        <a:accent4>
          <a:srgbClr val="000000"/>
        </a:accent4>
        <a:accent5>
          <a:srgbClr val="ADADAD"/>
        </a:accent5>
        <a:accent6>
          <a:srgbClr val="5C5C5C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A-T-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C3333"/>
        </a:accent1>
        <a:accent2>
          <a:srgbClr val="666666"/>
        </a:accent2>
        <a:accent3>
          <a:srgbClr val="FFFFFF"/>
        </a:accent3>
        <a:accent4>
          <a:srgbClr val="000000"/>
        </a:accent4>
        <a:accent5>
          <a:srgbClr val="E2ADAD"/>
        </a:accent5>
        <a:accent6>
          <a:srgbClr val="5C5C5C"/>
        </a:accent6>
        <a:hlink>
          <a:srgbClr val="969696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A-T-1 3">
        <a:dk1>
          <a:srgbClr val="000000"/>
        </a:dk1>
        <a:lt1>
          <a:srgbClr val="FFFFFF"/>
        </a:lt1>
        <a:dk2>
          <a:srgbClr val="000000"/>
        </a:dk2>
        <a:lt2>
          <a:srgbClr val="7F7F7F"/>
        </a:lt2>
        <a:accent1>
          <a:srgbClr val="FFFFFF"/>
        </a:accent1>
        <a:accent2>
          <a:srgbClr val="666666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5C5C5C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ZA-T-1</Template>
  <TotalTime>0</TotalTime>
  <Words>2118</Words>
  <Application>Microsoft Office PowerPoint</Application>
  <PresentationFormat>On-screen Show (4:3)</PresentationFormat>
  <Paragraphs>1072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Arial</vt:lpstr>
      <vt:lpstr>BMW Group Condensed</vt:lpstr>
      <vt:lpstr>BMW Helvetica Light</vt:lpstr>
      <vt:lpstr>BMWType V2 Regular</vt:lpstr>
      <vt:lpstr>BMWTypeLight</vt:lpstr>
      <vt:lpstr>BMWTypeRegular</vt:lpstr>
      <vt:lpstr>Calibri</vt:lpstr>
      <vt:lpstr>Symbol</vt:lpstr>
      <vt:lpstr>Wingdings</vt:lpstr>
      <vt:lpstr>ZA-T-1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BMW SA (Pty)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keminkwa</dc:creator>
  <cp:lastModifiedBy>Engelbrecht Mauritz, TX-R-15</cp:lastModifiedBy>
  <cp:revision>3118</cp:revision>
  <dcterms:created xsi:type="dcterms:W3CDTF">2004-03-04T08:38:56Z</dcterms:created>
  <dcterms:modified xsi:type="dcterms:W3CDTF">2025-06-11T11:30:20Z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935750-240b-48e4-a615-66942a738439_Enabled">
    <vt:lpwstr>true</vt:lpwstr>
  </property>
  <property fmtid="{D5CDD505-2E9C-101B-9397-08002B2CF9AE}" pid="3" name="MSIP_Label_e6935750-240b-48e4-a615-66942a738439_SetDate">
    <vt:lpwstr>2024-11-07T10:17:09Z</vt:lpwstr>
  </property>
  <property fmtid="{D5CDD505-2E9C-101B-9397-08002B2CF9AE}" pid="4" name="MSIP_Label_e6935750-240b-48e4-a615-66942a738439_Method">
    <vt:lpwstr>Standard</vt:lpwstr>
  </property>
  <property fmtid="{D5CDD505-2E9C-101B-9397-08002B2CF9AE}" pid="5" name="MSIP_Label_e6935750-240b-48e4-a615-66942a738439_Name">
    <vt:lpwstr>e6935750-240b-48e4-a615-66942a738439</vt:lpwstr>
  </property>
  <property fmtid="{D5CDD505-2E9C-101B-9397-08002B2CF9AE}" pid="6" name="MSIP_Label_e6935750-240b-48e4-a615-66942a738439_SiteId">
    <vt:lpwstr>ce849bab-cc1c-465b-b62e-18f07c9ac198</vt:lpwstr>
  </property>
  <property fmtid="{D5CDD505-2E9C-101B-9397-08002B2CF9AE}" pid="7" name="MSIP_Label_e6935750-240b-48e4-a615-66942a738439_ActionId">
    <vt:lpwstr>0ae5a4e0-55d7-43ec-8b3d-b01b4dcd5332</vt:lpwstr>
  </property>
  <property fmtid="{D5CDD505-2E9C-101B-9397-08002B2CF9AE}" pid="8" name="MSIP_Label_e6935750-240b-48e4-a615-66942a738439_ContentBits">
    <vt:lpwstr>2</vt:lpwstr>
  </property>
  <property fmtid="{D5CDD505-2E9C-101B-9397-08002B2CF9AE}" pid="9" name="ClassificationContentMarkingFooterLocations">
    <vt:lpwstr>ZA-T-1:3\1_Custom Design:8\Custom Design:8</vt:lpwstr>
  </property>
  <property fmtid="{D5CDD505-2E9C-101B-9397-08002B2CF9AE}" pid="10" name="ClassificationContentMarkingFooterText">
    <vt:lpwstr>CONFIDENTIAL</vt:lpwstr>
  </property>
</Properties>
</file>